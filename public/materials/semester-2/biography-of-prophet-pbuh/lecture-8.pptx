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78" r:id="rId2"/>
    <p:sldId id="284" r:id="rId3"/>
    <p:sldId id="283" r:id="rId4"/>
    <p:sldId id="281" r:id="rId5"/>
    <p:sldId id="311" r:id="rId6"/>
    <p:sldId id="319" r:id="rId7"/>
    <p:sldId id="320" r:id="rId8"/>
    <p:sldId id="321" r:id="rId9"/>
    <p:sldId id="322" r:id="rId10"/>
    <p:sldId id="323" r:id="rId11"/>
    <p:sldId id="324" r:id="rId12"/>
    <p:sldId id="309" r:id="rId13"/>
    <p:sldId id="267" r:id="rId14"/>
    <p:sldId id="260" r:id="rId15"/>
  </p:sldIdLst>
  <p:sldSz cx="12192000" cy="6858000"/>
  <p:notesSz cx="6888163" cy="100203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A21F"/>
    <a:srgbClr val="04A4DC"/>
    <a:srgbClr val="0A4F9E"/>
    <a:srgbClr val="F05A2A"/>
    <a:srgbClr val="7CBBE6"/>
    <a:srgbClr val="306EB4"/>
    <a:srgbClr val="FDAA03"/>
    <a:srgbClr val="3399FF"/>
    <a:srgbClr val="4B91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3" autoAdjust="0"/>
    <p:restoredTop sz="94660"/>
  </p:normalViewPr>
  <p:slideViewPr>
    <p:cSldViewPr snapToGrid="0">
      <p:cViewPr varScale="1">
        <p:scale>
          <a:sx n="68" d="100"/>
          <a:sy n="68" d="100"/>
        </p:scale>
        <p:origin x="424" y="-372"/>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1015"/>
          </a:xfrm>
          <a:prstGeom prst="rect">
            <a:avLst/>
          </a:prstGeom>
        </p:spPr>
        <p:txBody>
          <a:bodyPr vert="horz" lIns="96616" tIns="48308" rIns="96616" bIns="48308" rtlCol="0"/>
          <a:lstStyle>
            <a:lvl1pPr algn="l">
              <a:defRPr sz="1300"/>
            </a:lvl1pPr>
          </a:lstStyle>
          <a:p>
            <a:endParaRPr lang="en-US"/>
          </a:p>
        </p:txBody>
      </p:sp>
      <p:sp>
        <p:nvSpPr>
          <p:cNvPr id="3" name="Date Placeholder 2"/>
          <p:cNvSpPr>
            <a:spLocks noGrp="1"/>
          </p:cNvSpPr>
          <p:nvPr>
            <p:ph type="dt" idx="1"/>
          </p:nvPr>
        </p:nvSpPr>
        <p:spPr>
          <a:xfrm>
            <a:off x="3901698" y="0"/>
            <a:ext cx="2984871" cy="501015"/>
          </a:xfrm>
          <a:prstGeom prst="rect">
            <a:avLst/>
          </a:prstGeom>
        </p:spPr>
        <p:txBody>
          <a:bodyPr vert="horz" lIns="96616" tIns="48308" rIns="96616" bIns="48308" rtlCol="0"/>
          <a:lstStyle>
            <a:lvl1pPr algn="r">
              <a:defRPr sz="1300"/>
            </a:lvl1pPr>
          </a:lstStyle>
          <a:p>
            <a:fld id="{CC64C3A3-36D1-4B54-82BE-C1BE53106136}" type="datetimeFigureOut">
              <a:rPr lang="en-US" smtClean="0"/>
              <a:t>5/29/2025</a:t>
            </a:fld>
            <a:endParaRPr lang="en-US"/>
          </a:p>
        </p:txBody>
      </p:sp>
      <p:sp>
        <p:nvSpPr>
          <p:cNvPr id="4" name="Slide Image Placeholder 3"/>
          <p:cNvSpPr>
            <a:spLocks noGrp="1" noRot="1" noChangeAspect="1"/>
          </p:cNvSpPr>
          <p:nvPr>
            <p:ph type="sldImg" idx="2"/>
          </p:nvPr>
        </p:nvSpPr>
        <p:spPr>
          <a:xfrm>
            <a:off x="104775" y="750888"/>
            <a:ext cx="6678613" cy="3757612"/>
          </a:xfrm>
          <a:prstGeom prst="rect">
            <a:avLst/>
          </a:prstGeom>
          <a:noFill/>
          <a:ln w="12700">
            <a:solidFill>
              <a:prstClr val="black"/>
            </a:solidFill>
          </a:ln>
        </p:spPr>
        <p:txBody>
          <a:bodyPr vert="horz" lIns="96616" tIns="48308" rIns="96616" bIns="48308" rtlCol="0" anchor="ctr"/>
          <a:lstStyle/>
          <a:p>
            <a:endParaRPr lang="en-US"/>
          </a:p>
        </p:txBody>
      </p:sp>
      <p:sp>
        <p:nvSpPr>
          <p:cNvPr id="5" name="Notes Placeholder 4"/>
          <p:cNvSpPr>
            <a:spLocks noGrp="1"/>
          </p:cNvSpPr>
          <p:nvPr>
            <p:ph type="body" sz="quarter" idx="3"/>
          </p:nvPr>
        </p:nvSpPr>
        <p:spPr>
          <a:xfrm>
            <a:off x="688817" y="4759643"/>
            <a:ext cx="5510530" cy="4509135"/>
          </a:xfrm>
          <a:prstGeom prst="rect">
            <a:avLst/>
          </a:prstGeom>
        </p:spPr>
        <p:txBody>
          <a:bodyPr vert="horz" lIns="96616" tIns="48308" rIns="96616" bIns="4830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17546"/>
            <a:ext cx="2984871" cy="501015"/>
          </a:xfrm>
          <a:prstGeom prst="rect">
            <a:avLst/>
          </a:prstGeom>
        </p:spPr>
        <p:txBody>
          <a:bodyPr vert="horz" lIns="96616" tIns="48308" rIns="96616" bIns="48308" rtlCol="0" anchor="b"/>
          <a:lstStyle>
            <a:lvl1pPr algn="l">
              <a:defRPr sz="1300"/>
            </a:lvl1pPr>
          </a:lstStyle>
          <a:p>
            <a:endParaRPr lang="en-US"/>
          </a:p>
        </p:txBody>
      </p:sp>
      <p:sp>
        <p:nvSpPr>
          <p:cNvPr id="7" name="Slide Number Placeholder 6"/>
          <p:cNvSpPr>
            <a:spLocks noGrp="1"/>
          </p:cNvSpPr>
          <p:nvPr>
            <p:ph type="sldNum" sz="quarter" idx="5"/>
          </p:nvPr>
        </p:nvSpPr>
        <p:spPr>
          <a:xfrm>
            <a:off x="3901698" y="9517546"/>
            <a:ext cx="2984871" cy="501015"/>
          </a:xfrm>
          <a:prstGeom prst="rect">
            <a:avLst/>
          </a:prstGeom>
        </p:spPr>
        <p:txBody>
          <a:bodyPr vert="horz" lIns="96616" tIns="48308" rIns="96616" bIns="48308" rtlCol="0" anchor="b"/>
          <a:lstStyle>
            <a:lvl1pPr algn="r">
              <a:defRPr sz="1300"/>
            </a:lvl1pPr>
          </a:lstStyle>
          <a:p>
            <a:fld id="{561E02F8-2C60-4E6D-9748-CA6CEC34A947}" type="slidenum">
              <a:rPr lang="en-US" smtClean="0"/>
              <a:t>‹#›</a:t>
            </a:fld>
            <a:endParaRPr lang="en-US"/>
          </a:p>
        </p:txBody>
      </p:sp>
    </p:spTree>
    <p:extLst>
      <p:ext uri="{BB962C8B-B14F-4D97-AF65-F5344CB8AC3E}">
        <p14:creationId xmlns:p14="http://schemas.microsoft.com/office/powerpoint/2010/main" val="29866419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A4F9E"/>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19036" y="2729552"/>
            <a:ext cx="9144000" cy="889593"/>
          </a:xfrm>
        </p:spPr>
        <p:txBody>
          <a:bodyPr anchor="b">
            <a:normAutofit/>
          </a:bodyPr>
          <a:lstStyle>
            <a:lvl1pPr algn="ctr" defTabSz="914400" rtl="0" eaLnBrk="1" latinLnBrk="0" hangingPunct="1">
              <a:spcBef>
                <a:spcPct val="0"/>
              </a:spcBef>
              <a:buNone/>
              <a:defRPr lang="en-US" sz="4400" b="1" kern="1200" baseline="0" dirty="0">
                <a:solidFill>
                  <a:schemeClr val="bg1"/>
                </a:solidFill>
                <a:latin typeface="+mn-lt"/>
                <a:ea typeface="+mj-ea"/>
                <a:cs typeface="B Zar"/>
              </a:defRPr>
            </a:lvl1pPr>
          </a:lstStyle>
          <a:p>
            <a:r>
              <a:rPr lang="prs-AF" dirty="0"/>
              <a:t>عنوان اصلی تقریر</a:t>
            </a:r>
            <a:endParaRPr lang="en-US" dirty="0"/>
          </a:p>
        </p:txBody>
      </p:sp>
      <p:sp>
        <p:nvSpPr>
          <p:cNvPr id="3" name="Subtitle 2"/>
          <p:cNvSpPr>
            <a:spLocks noGrp="1"/>
          </p:cNvSpPr>
          <p:nvPr>
            <p:ph type="subTitle" idx="1" hasCustomPrompt="1"/>
          </p:nvPr>
        </p:nvSpPr>
        <p:spPr>
          <a:xfrm>
            <a:off x="1519036" y="3780431"/>
            <a:ext cx="9144000" cy="1354540"/>
          </a:xfrm>
        </p:spPr>
        <p:txBody>
          <a:bodyPr>
            <a:normAutofit/>
          </a:bodyPr>
          <a:lstStyle>
            <a:lvl1pPr marL="0" indent="0" algn="ctr">
              <a:buNone/>
              <a:defRPr sz="2800" baseline="0">
                <a:solidFill>
                  <a:schemeClr val="bg1"/>
                </a:solidFill>
                <a:cs typeface="B Zar"/>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rs-AF" dirty="0"/>
              <a:t>عنوان فرعی تقریر</a:t>
            </a:r>
            <a:endParaRPr lang="en-US" dirty="0"/>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089021" y="440948"/>
            <a:ext cx="1713676" cy="1713676"/>
          </a:xfrm>
          <a:prstGeom prst="rect">
            <a:avLst/>
          </a:prstGeom>
        </p:spPr>
      </p:pic>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6467" y="1024069"/>
            <a:ext cx="12208467" cy="6867263"/>
          </a:xfrm>
          <a:prstGeom prst="rect">
            <a:avLst/>
          </a:prstGeom>
        </p:spPr>
      </p:pic>
    </p:spTree>
    <p:extLst>
      <p:ext uri="{BB962C8B-B14F-4D97-AF65-F5344CB8AC3E}">
        <p14:creationId xmlns:p14="http://schemas.microsoft.com/office/powerpoint/2010/main" val="26815398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47567" y="445807"/>
            <a:ext cx="9968061" cy="952687"/>
          </a:xfrm>
        </p:spPr>
        <p:txBody>
          <a:bodyPr>
            <a:normAutofit/>
          </a:bodyPr>
          <a:lstStyle>
            <a:lvl1pPr algn="r" rtl="1">
              <a:defRPr lang="en-US" sz="4400" b="1" kern="1200" dirty="0">
                <a:solidFill>
                  <a:schemeClr val="accent1">
                    <a:lumMod val="50000"/>
                  </a:schemeClr>
                </a:solidFill>
                <a:latin typeface="Adobe Arabic" pitchFamily="18" charset="-78"/>
                <a:ea typeface="B Zar"/>
                <a:cs typeface="B Zar"/>
              </a:defRPr>
            </a:lvl1pPr>
          </a:lstStyle>
          <a:p>
            <a:r>
              <a:rPr lang="prs-AF" dirty="0"/>
              <a:t>عنوان اصلی</a:t>
            </a:r>
            <a:endParaRPr lang="en-US" dirty="0"/>
          </a:p>
        </p:txBody>
      </p:sp>
      <p:sp>
        <p:nvSpPr>
          <p:cNvPr id="3" name="Content Placeholder 2"/>
          <p:cNvSpPr>
            <a:spLocks noGrp="1"/>
          </p:cNvSpPr>
          <p:nvPr>
            <p:ph idx="1" hasCustomPrompt="1"/>
          </p:nvPr>
        </p:nvSpPr>
        <p:spPr>
          <a:xfrm>
            <a:off x="518616" y="1555845"/>
            <a:ext cx="11080259" cy="4517409"/>
          </a:xfrm>
        </p:spPr>
        <p:txBody>
          <a:bodyPr/>
          <a:lstStyle>
            <a:lvl1pPr algn="r" rtl="1">
              <a:defRPr sz="2800"/>
            </a:lvl1pPr>
            <a:lvl2pPr algn="r" rtl="1">
              <a:defRPr/>
            </a:lvl2pPr>
            <a:lvl3pPr algn="r" rtl="1">
              <a:defRPr baseline="0"/>
            </a:lvl3pPr>
            <a:lvl4pPr algn="r" rtl="1">
              <a:defRPr/>
            </a:lvl4pPr>
            <a:lvl5pPr algn="r" rtl="1">
              <a:defRPr baseline="0"/>
            </a:lvl5pPr>
          </a:lstStyle>
          <a:p>
            <a:pPr lvl="0"/>
            <a:r>
              <a:rPr lang="prs-AF" dirty="0"/>
              <a:t>متن اصلی</a:t>
            </a:r>
            <a:endParaRPr lang="en-US" dirty="0"/>
          </a:p>
          <a:p>
            <a:pPr lvl="1"/>
            <a:r>
              <a:rPr lang="prs-AF" dirty="0"/>
              <a:t>متن فرعی دوم</a:t>
            </a:r>
            <a:endParaRPr lang="en-US" dirty="0"/>
          </a:p>
          <a:p>
            <a:pPr lvl="2"/>
            <a:r>
              <a:rPr lang="prs-AF" dirty="0"/>
              <a:t>متن فرعی سوم</a:t>
            </a:r>
            <a:endParaRPr lang="en-US" dirty="0"/>
          </a:p>
          <a:p>
            <a:pPr lvl="3"/>
            <a:r>
              <a:rPr lang="prs-AF" dirty="0"/>
              <a:t>متن فرعی چهارم</a:t>
            </a:r>
            <a:endParaRPr lang="en-US" dirty="0"/>
          </a:p>
          <a:p>
            <a:pPr lvl="4"/>
            <a:r>
              <a:rPr lang="prs-AF" dirty="0"/>
              <a:t>متن فرعی پنجم</a:t>
            </a:r>
            <a:endParaRPr lang="en-US" dirty="0"/>
          </a:p>
        </p:txBody>
      </p:sp>
      <p:sp>
        <p:nvSpPr>
          <p:cNvPr id="4" name="Date Placeholder 3"/>
          <p:cNvSpPr>
            <a:spLocks noGrp="1"/>
          </p:cNvSpPr>
          <p:nvPr>
            <p:ph type="dt" sz="half" idx="10"/>
          </p:nvPr>
        </p:nvSpPr>
        <p:spPr/>
        <p:txBody>
          <a:bodyPr/>
          <a:lstStyle/>
          <a:p>
            <a:fld id="{2A73865D-5B99-46DD-BB43-58A6B67A8955}" type="datetimeFigureOut">
              <a:rPr lang="en-US" smtClean="0"/>
              <a:t>5/29/2025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BCB4263-EF47-44FB-8A6A-3F65507A3407}" type="slidenum">
              <a:rPr lang="en-US" smtClean="0"/>
              <a:t>‹#›</a:t>
            </a:fld>
            <a:endParaRPr lang="en-US" dirty="0"/>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813894" y="6008432"/>
            <a:ext cx="5784981" cy="849568"/>
          </a:xfrm>
          <a:prstGeom prst="rect">
            <a:avLst/>
          </a:prstGeom>
        </p:spPr>
      </p:pic>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18616" y="329016"/>
            <a:ext cx="1065215" cy="1065215"/>
          </a:xfrm>
          <a:prstGeom prst="rect">
            <a:avLst/>
          </a:prstGeom>
        </p:spPr>
      </p:pic>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6004186"/>
            <a:ext cx="5813894" cy="853814"/>
          </a:xfrm>
          <a:prstGeom prst="rect">
            <a:avLst/>
          </a:prstGeom>
        </p:spPr>
      </p:pic>
    </p:spTree>
    <p:extLst>
      <p:ext uri="{BB962C8B-B14F-4D97-AF65-F5344CB8AC3E}">
        <p14:creationId xmlns:p14="http://schemas.microsoft.com/office/powerpoint/2010/main" val="1422515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A73865D-5B99-46DD-BB43-58A6B67A8955}" type="datetimeFigureOut">
              <a:rPr lang="en-US" smtClean="0"/>
              <a:t>5/29/2025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BCB4263-EF47-44FB-8A6A-3F65507A3407}" type="slidenum">
              <a:rPr lang="en-US" smtClean="0"/>
              <a:t>‹#›</a:t>
            </a:fld>
            <a:endParaRPr lang="en-US" dirty="0"/>
          </a:p>
        </p:txBody>
      </p:sp>
    </p:spTree>
    <p:extLst>
      <p:ext uri="{BB962C8B-B14F-4D97-AF65-F5344CB8AC3E}">
        <p14:creationId xmlns:p14="http://schemas.microsoft.com/office/powerpoint/2010/main" val="899929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A73865D-5B99-46DD-BB43-58A6B67A8955}" type="datetimeFigureOut">
              <a:rPr lang="en-US" smtClean="0"/>
              <a:t>5/29/2025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BCB4263-EF47-44FB-8A6A-3F65507A3407}" type="slidenum">
              <a:rPr lang="en-US" smtClean="0"/>
              <a:t>‹#›</a:t>
            </a:fld>
            <a:endParaRPr lang="en-US" dirty="0"/>
          </a:p>
        </p:txBody>
      </p:sp>
    </p:spTree>
    <p:extLst>
      <p:ext uri="{BB962C8B-B14F-4D97-AF65-F5344CB8AC3E}">
        <p14:creationId xmlns:p14="http://schemas.microsoft.com/office/powerpoint/2010/main" val="2474269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A73865D-5B99-46DD-BB43-58A6B67A8955}" type="datetimeFigureOut">
              <a:rPr lang="en-US" smtClean="0"/>
              <a:t>5/29/2025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BCB4263-EF47-44FB-8A6A-3F65507A3407}" type="slidenum">
              <a:rPr lang="en-US" smtClean="0"/>
              <a:t>‹#›</a:t>
            </a:fld>
            <a:endParaRPr lang="en-US" dirty="0"/>
          </a:p>
        </p:txBody>
      </p:sp>
    </p:spTree>
    <p:extLst>
      <p:ext uri="{BB962C8B-B14F-4D97-AF65-F5344CB8AC3E}">
        <p14:creationId xmlns:p14="http://schemas.microsoft.com/office/powerpoint/2010/main" val="4052368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A73865D-5B99-46DD-BB43-58A6B67A8955}" type="datetimeFigureOut">
              <a:rPr lang="en-US" smtClean="0"/>
              <a:t>5/29/2025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BCB4263-EF47-44FB-8A6A-3F65507A3407}" type="slidenum">
              <a:rPr lang="en-US" smtClean="0"/>
              <a:t>‹#›</a:t>
            </a:fld>
            <a:endParaRPr lang="en-US" dirty="0"/>
          </a:p>
        </p:txBody>
      </p:sp>
    </p:spTree>
    <p:extLst>
      <p:ext uri="{BB962C8B-B14F-4D97-AF65-F5344CB8AC3E}">
        <p14:creationId xmlns:p14="http://schemas.microsoft.com/office/powerpoint/2010/main" val="3026581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73865D-5B99-46DD-BB43-58A6B67A8955}" type="datetimeFigureOut">
              <a:rPr lang="en-US" smtClean="0"/>
              <a:t>5/29/2025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BCB4263-EF47-44FB-8A6A-3F65507A3407}" type="slidenum">
              <a:rPr lang="en-US" smtClean="0"/>
              <a:t>‹#›</a:t>
            </a:fld>
            <a:endParaRPr lang="en-US" dirty="0"/>
          </a:p>
        </p:txBody>
      </p:sp>
    </p:spTree>
    <p:extLst>
      <p:ext uri="{BB962C8B-B14F-4D97-AF65-F5344CB8AC3E}">
        <p14:creationId xmlns:p14="http://schemas.microsoft.com/office/powerpoint/2010/main" val="772611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A73865D-5B99-46DD-BB43-58A6B67A8955}" type="datetimeFigureOut">
              <a:rPr lang="en-US" smtClean="0"/>
              <a:t>5/29/2025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BCB4263-EF47-44FB-8A6A-3F65507A3407}" type="slidenum">
              <a:rPr lang="en-US" smtClean="0"/>
              <a:t>‹#›</a:t>
            </a:fld>
            <a:endParaRPr lang="en-US" dirty="0"/>
          </a:p>
        </p:txBody>
      </p:sp>
    </p:spTree>
    <p:extLst>
      <p:ext uri="{BB962C8B-B14F-4D97-AF65-F5344CB8AC3E}">
        <p14:creationId xmlns:p14="http://schemas.microsoft.com/office/powerpoint/2010/main" val="152107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A73865D-5B99-46DD-BB43-58A6B67A8955}" type="datetimeFigureOut">
              <a:rPr lang="en-US" smtClean="0"/>
              <a:t>5/29/2025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BCB4263-EF47-44FB-8A6A-3F65507A3407}" type="slidenum">
              <a:rPr lang="en-US" smtClean="0"/>
              <a:t>‹#›</a:t>
            </a:fld>
            <a:endParaRPr lang="en-US" dirty="0"/>
          </a:p>
        </p:txBody>
      </p:sp>
    </p:spTree>
    <p:extLst>
      <p:ext uri="{BB962C8B-B14F-4D97-AF65-F5344CB8AC3E}">
        <p14:creationId xmlns:p14="http://schemas.microsoft.com/office/powerpoint/2010/main" val="1626859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73865D-5B99-46DD-BB43-58A6B67A8955}" type="datetimeFigureOut">
              <a:rPr lang="en-US" smtClean="0"/>
              <a:t>5/29/2025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BCB4263-EF47-44FB-8A6A-3F65507A3407}" type="slidenum">
              <a:rPr lang="en-US" smtClean="0"/>
              <a:t>‹#›</a:t>
            </a:fld>
            <a:endParaRPr lang="en-US" dirty="0"/>
          </a:p>
        </p:txBody>
      </p:sp>
    </p:spTree>
    <p:extLst>
      <p:ext uri="{BB962C8B-B14F-4D97-AF65-F5344CB8AC3E}">
        <p14:creationId xmlns:p14="http://schemas.microsoft.com/office/powerpoint/2010/main" val="3124514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73865D-5B99-46DD-BB43-58A6B67A8955}" type="datetimeFigureOut">
              <a:rPr lang="en-US" smtClean="0"/>
              <a:t>5/29/2025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BCB4263-EF47-44FB-8A6A-3F65507A3407}" type="slidenum">
              <a:rPr lang="en-US" smtClean="0"/>
              <a:t>‹#›</a:t>
            </a:fld>
            <a:endParaRPr lang="en-US" dirty="0"/>
          </a:p>
        </p:txBody>
      </p:sp>
    </p:spTree>
    <p:extLst>
      <p:ext uri="{BB962C8B-B14F-4D97-AF65-F5344CB8AC3E}">
        <p14:creationId xmlns:p14="http://schemas.microsoft.com/office/powerpoint/2010/main" val="2295149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100917" y="2752726"/>
            <a:ext cx="8278284" cy="1362075"/>
          </a:xfrm>
        </p:spPr>
        <p:txBody>
          <a:bodyPr anchor="ctr" anchorCtr="0">
            <a:normAutofit/>
          </a:bodyPr>
          <a:lstStyle>
            <a:lvl1pPr algn="r">
              <a:defRPr lang="en-US" sz="4400" b="1" kern="1200" dirty="0">
                <a:solidFill>
                  <a:schemeClr val="tx2">
                    <a:lumMod val="75000"/>
                  </a:schemeClr>
                </a:solidFill>
                <a:latin typeface="+mn-lt"/>
                <a:ea typeface="+mj-ea"/>
                <a:cs typeface="+mj-cs"/>
              </a:defRPr>
            </a:lvl1pPr>
          </a:lstStyle>
          <a:p>
            <a:r>
              <a:rPr lang="en-US" dirty="0"/>
              <a:t>Click to edit Section Header</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11940" y="2743200"/>
            <a:ext cx="1331259" cy="1295400"/>
          </a:xfrm>
          <a:prstGeom prst="rect">
            <a:avLst/>
          </a:prstGeom>
        </p:spPr>
      </p:pic>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b="33046"/>
          <a:stretch/>
        </p:blipFill>
        <p:spPr>
          <a:xfrm>
            <a:off x="0" y="5709899"/>
            <a:ext cx="12223899" cy="1079861"/>
          </a:xfrm>
          <a:prstGeom prst="rect">
            <a:avLst/>
          </a:prstGeom>
        </p:spPr>
      </p:pic>
    </p:spTree>
    <p:extLst>
      <p:ext uri="{BB962C8B-B14F-4D97-AF65-F5344CB8AC3E}">
        <p14:creationId xmlns:p14="http://schemas.microsoft.com/office/powerpoint/2010/main" val="1793488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73865D-5B99-46DD-BB43-58A6B67A8955}" type="datetimeFigureOut">
              <a:rPr lang="en-US" smtClean="0"/>
              <a:t>5/29/2025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CB4263-EF47-44FB-8A6A-3F65507A3407}" type="slidenum">
              <a:rPr lang="en-US" smtClean="0"/>
              <a:t>‹#›</a:t>
            </a:fld>
            <a:endParaRPr lang="en-US" dirty="0"/>
          </a:p>
        </p:txBody>
      </p:sp>
    </p:spTree>
    <p:extLst>
      <p:ext uri="{BB962C8B-B14F-4D97-AF65-F5344CB8AC3E}">
        <p14:creationId xmlns:p14="http://schemas.microsoft.com/office/powerpoint/2010/main" val="40060596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317499" y="2971280"/>
            <a:ext cx="11252201" cy="1160065"/>
          </a:xfrm>
        </p:spPr>
        <p:txBody>
          <a:bodyPr>
            <a:noAutofit/>
          </a:bodyPr>
          <a:lstStyle/>
          <a:p>
            <a:pPr>
              <a:lnSpc>
                <a:spcPct val="150000"/>
              </a:lnSpc>
            </a:pPr>
            <a:r>
              <a:rPr lang="ps-AF" sz="5400" dirty="0">
                <a:latin typeface="Bahij Nazanin" panose="02040503050201020203" pitchFamily="18" charset="-78"/>
                <a:ea typeface="Cambria" panose="02040503050406030204" pitchFamily="18" charset="0"/>
                <a:cs typeface="Bahij Nazanin" panose="02040503050201020203" pitchFamily="18" charset="-78"/>
              </a:rPr>
              <a:t>سيرت نبي عليه السلام</a:t>
            </a:r>
            <a:endParaRPr lang="en-US" sz="5400" dirty="0">
              <a:latin typeface="Bahij Nazanin" panose="02040503050201020203" pitchFamily="18" charset="-78"/>
              <a:ea typeface="Cambria" panose="02040503050406030204" pitchFamily="18" charset="0"/>
              <a:cs typeface="Bahij Nazanin" panose="02040503050201020203" pitchFamily="18" charset="-78"/>
            </a:endParaRPr>
          </a:p>
        </p:txBody>
      </p:sp>
      <p:sp>
        <p:nvSpPr>
          <p:cNvPr id="3" name="TextBox 2"/>
          <p:cNvSpPr txBox="1"/>
          <p:nvPr/>
        </p:nvSpPr>
        <p:spPr>
          <a:xfrm>
            <a:off x="669701" y="4612751"/>
            <a:ext cx="11028787" cy="1569660"/>
          </a:xfrm>
          <a:prstGeom prst="rect">
            <a:avLst/>
          </a:prstGeom>
          <a:noFill/>
        </p:spPr>
        <p:txBody>
          <a:bodyPr wrap="square" rtlCol="0">
            <a:spAutoFit/>
          </a:bodyPr>
          <a:lstStyle/>
          <a:p>
            <a:pPr algn="r" rtl="1"/>
            <a:r>
              <a:rPr lang="ps-AF" sz="3200" b="1" dirty="0">
                <a:solidFill>
                  <a:schemeClr val="bg1"/>
                </a:solidFill>
                <a:latin typeface="Bahij Nazanin" panose="02040503050201020203" pitchFamily="18" charset="-78"/>
                <a:cs typeface="Bahij Nazanin" panose="02040503050201020203" pitchFamily="18" charset="-78"/>
              </a:rPr>
              <a:t>سمسټر: دوم</a:t>
            </a:r>
          </a:p>
          <a:p>
            <a:pPr algn="r" rtl="1"/>
            <a:r>
              <a:rPr lang="ps-AF" sz="3200" b="1" dirty="0">
                <a:solidFill>
                  <a:schemeClr val="bg1"/>
                </a:solidFill>
                <a:latin typeface="Bahij Nazanin" panose="02040503050201020203" pitchFamily="18" charset="-78"/>
                <a:cs typeface="Bahij Nazanin" panose="02040503050201020203" pitchFamily="18" charset="-78"/>
              </a:rPr>
              <a:t>درس: هشتم</a:t>
            </a:r>
          </a:p>
          <a:p>
            <a:pPr algn="r" rtl="1"/>
            <a:r>
              <a:rPr lang="ps-AF" sz="3200" b="1" dirty="0">
                <a:solidFill>
                  <a:schemeClr val="bg1"/>
                </a:solidFill>
                <a:latin typeface="Bahij Nazanin" panose="02040503050201020203" pitchFamily="18" charset="-78"/>
                <a:cs typeface="Bahij Nazanin" panose="02040503050201020203" pitchFamily="18" charset="-78"/>
              </a:rPr>
              <a:t>استاذ: </a:t>
            </a:r>
            <a:r>
              <a:rPr lang="fa-IR" sz="3200" b="1" dirty="0">
                <a:solidFill>
                  <a:schemeClr val="bg1"/>
                </a:solidFill>
                <a:latin typeface="Bahij Nazanin" panose="02040503050201020203" pitchFamily="18" charset="-78"/>
                <a:cs typeface="Bahij Nazanin" panose="02040503050201020203" pitchFamily="18" charset="-78"/>
              </a:rPr>
              <a:t>اصحاب الدین حلیمی</a:t>
            </a:r>
            <a:endParaRPr lang="ps-AF" sz="3200" b="1" dirty="0">
              <a:solidFill>
                <a:schemeClr val="bg1"/>
              </a:solidFill>
              <a:latin typeface="Bahij Nazanin" panose="02040503050201020203" pitchFamily="18" charset="-78"/>
              <a:cs typeface="Bahij Nazanin" panose="02040503050201020203" pitchFamily="18" charset="-78"/>
            </a:endParaRPr>
          </a:p>
        </p:txBody>
      </p:sp>
    </p:spTree>
    <p:extLst>
      <p:ext uri="{BB962C8B-B14F-4D97-AF65-F5344CB8AC3E}">
        <p14:creationId xmlns:p14="http://schemas.microsoft.com/office/powerpoint/2010/main" val="2311942018"/>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ps-AF" dirty="0">
                <a:latin typeface="Arial" panose="020B0604020202020204" pitchFamily="34" charset="0"/>
                <a:cs typeface="Arial" panose="020B0604020202020204" pitchFamily="34" charset="0"/>
              </a:rPr>
              <a:t>فهرست</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numCol="2" rtlCol="1">
            <a:normAutofit/>
          </a:bodyPr>
          <a:lstStyle/>
          <a:p>
            <a:pPr>
              <a:lnSpc>
                <a:spcPct val="100000"/>
              </a:lnSpc>
            </a:pPr>
            <a:r>
              <a:rPr lang="ps-AF" sz="3200" dirty="0">
                <a:latin typeface="Bahij Nazanin" panose="02040503050201020203" pitchFamily="18" charset="-78"/>
                <a:cs typeface="Bahij Nazanin" panose="02040503050201020203" pitchFamily="18" charset="-78"/>
              </a:rPr>
              <a:t>مرور مختصر به در </a:t>
            </a:r>
            <a:r>
              <a:rPr lang="prs-AF" sz="3200" dirty="0">
                <a:latin typeface="Bahij Nazanin" panose="02040503050201020203" pitchFamily="18" charset="-78"/>
                <a:cs typeface="Bahij Nazanin" panose="02040503050201020203" pitchFamily="18" charset="-78"/>
              </a:rPr>
              <a:t>گ</a:t>
            </a:r>
            <a:r>
              <a:rPr lang="ps-AF" sz="3200" dirty="0">
                <a:latin typeface="Bahij Nazanin" panose="02040503050201020203" pitchFamily="18" charset="-78"/>
                <a:cs typeface="Bahij Nazanin" panose="02040503050201020203" pitchFamily="18" charset="-78"/>
              </a:rPr>
              <a:t>ذشته</a:t>
            </a:r>
            <a:endParaRPr lang="prs-AF" sz="3200" dirty="0">
              <a:latin typeface="Bahij Nazanin" panose="02040503050201020203" pitchFamily="18" charset="-78"/>
              <a:cs typeface="Bahij Nazanin" panose="02040503050201020203" pitchFamily="18" charset="-78"/>
            </a:endParaRPr>
          </a:p>
          <a:p>
            <a:pPr>
              <a:lnSpc>
                <a:spcPct val="100000"/>
              </a:lnSpc>
            </a:pPr>
            <a:r>
              <a:rPr lang="prs-AF" sz="3200" dirty="0">
                <a:latin typeface="Bahij Nazanin" panose="02040503050201020203" pitchFamily="18" charset="-78"/>
                <a:cs typeface="Bahij Nazanin" panose="02040503050201020203" pitchFamily="18" charset="-78"/>
              </a:rPr>
              <a:t>نتایج متوقع از درس</a:t>
            </a:r>
            <a:endParaRPr lang="ps-AF" sz="3200" dirty="0">
              <a:latin typeface="Bahij Nazanin" panose="02040503050201020203" pitchFamily="18" charset="-78"/>
              <a:cs typeface="Bahij Nazanin" panose="02040503050201020203" pitchFamily="18" charset="-78"/>
            </a:endParaRPr>
          </a:p>
          <a:p>
            <a:pPr>
              <a:lnSpc>
                <a:spcPct val="100000"/>
              </a:lnSpc>
            </a:pPr>
            <a:r>
              <a:rPr lang="ps-AF" sz="3200" dirty="0">
                <a:latin typeface="Bahij Nazanin" panose="02040503050201020203" pitchFamily="18" charset="-78"/>
                <a:cs typeface="Bahij Nazanin" panose="02040503050201020203" pitchFamily="18" charset="-78"/>
              </a:rPr>
              <a:t>حجة الوداع</a:t>
            </a:r>
          </a:p>
          <a:p>
            <a:pPr>
              <a:lnSpc>
                <a:spcPct val="100000"/>
              </a:lnSpc>
            </a:pPr>
            <a:r>
              <a:rPr lang="ps-AF" sz="3200" dirty="0">
                <a:latin typeface="Bahij Nazanin" panose="02040503050201020203" pitchFamily="18" charset="-78"/>
                <a:cs typeface="Bahij Nazanin" panose="02040503050201020203" pitchFamily="18" charset="-78"/>
              </a:rPr>
              <a:t>آغاز مریضی</a:t>
            </a:r>
          </a:p>
          <a:p>
            <a:pPr>
              <a:lnSpc>
                <a:spcPct val="100000"/>
              </a:lnSpc>
            </a:pPr>
            <a:r>
              <a:rPr lang="ar-SA" sz="3200" dirty="0">
                <a:latin typeface="Bahij Nazanin" panose="02040503050201020203" pitchFamily="18" charset="-78"/>
                <a:cs typeface="Bahij Nazanin" panose="02040503050201020203" pitchFamily="18" charset="-78"/>
              </a:rPr>
              <a:t>آخرین روز زندگی پیامبر </a:t>
            </a:r>
            <a:r>
              <a:rPr lang="en-US" sz="3200" dirty="0">
                <a:latin typeface="Bahij Nazanin" panose="02040503050201020203" pitchFamily="18" charset="-78"/>
                <a:cs typeface="Bahij Nazanin" panose="02040503050201020203" pitchFamily="18" charset="-78"/>
                <a:sym typeface="AGA Arabesque" panose="05000000000000000000" pitchFamily="2" charset="2"/>
              </a:rPr>
              <a:t></a:t>
            </a:r>
            <a:endParaRPr lang="ps-AF" sz="3200" dirty="0">
              <a:latin typeface="Bahij Nazanin" panose="02040503050201020203" pitchFamily="18" charset="-78"/>
              <a:cs typeface="Bahij Nazanin" panose="02040503050201020203" pitchFamily="18" charset="-78"/>
              <a:sym typeface="AGA Arabesque" panose="05000000000000000000" pitchFamily="2" charset="2"/>
            </a:endParaRPr>
          </a:p>
          <a:p>
            <a:pPr>
              <a:lnSpc>
                <a:spcPct val="100000"/>
              </a:lnSpc>
            </a:pPr>
            <a:r>
              <a:rPr lang="ps-AF" sz="3200" dirty="0">
                <a:latin typeface="Bahij Nazanin" panose="02040503050201020203" pitchFamily="18" charset="-78"/>
                <a:cs typeface="Bahij Nazanin" panose="02040503050201020203" pitchFamily="18" charset="-78"/>
              </a:rPr>
              <a:t>وفات رسول اکرم </a:t>
            </a:r>
            <a:r>
              <a:rPr lang="en-US" sz="3200" dirty="0">
                <a:latin typeface="Bahij Nazanin" panose="02040503050201020203" pitchFamily="18" charset="-78"/>
                <a:cs typeface="Bahij Nazanin" panose="02040503050201020203" pitchFamily="18" charset="-78"/>
                <a:sym typeface="AGA Arabesque" panose="05000000000000000000" pitchFamily="2" charset="2"/>
              </a:rPr>
              <a:t></a:t>
            </a:r>
            <a:endParaRPr lang="ps-AF" sz="3200" dirty="0">
              <a:latin typeface="Bahij Nazanin" panose="02040503050201020203" pitchFamily="18" charset="-78"/>
              <a:cs typeface="Bahij Nazanin" panose="02040503050201020203" pitchFamily="18" charset="-78"/>
              <a:sym typeface="AGA Arabesque" panose="05000000000000000000" pitchFamily="2" charset="2"/>
            </a:endParaRPr>
          </a:p>
          <a:p>
            <a:pPr>
              <a:lnSpc>
                <a:spcPct val="100000"/>
              </a:lnSpc>
            </a:pPr>
            <a:r>
              <a:rPr lang="ar-SA" sz="3200" dirty="0">
                <a:latin typeface="Bahij Nazanin" panose="02040503050201020203" pitchFamily="18" charset="-78"/>
                <a:cs typeface="Bahij Nazanin" panose="02040503050201020203" pitchFamily="18" charset="-78"/>
              </a:rPr>
              <a:t>خاکسپاری پیکر رسول اکرم </a:t>
            </a:r>
            <a:r>
              <a:rPr lang="en-US" sz="3200" dirty="0">
                <a:latin typeface="Bahij Nazanin" panose="02040503050201020203" pitchFamily="18" charset="-78"/>
                <a:cs typeface="Bahij Nazanin" panose="02040503050201020203" pitchFamily="18" charset="-78"/>
                <a:sym typeface="AGA Arabesque" panose="05000000000000000000" pitchFamily="2" charset="2"/>
              </a:rPr>
              <a:t></a:t>
            </a:r>
            <a:endParaRPr lang="ps-AF" sz="3200" dirty="0">
              <a:latin typeface="Bahij Nazanin" panose="02040503050201020203" pitchFamily="18" charset="-78"/>
              <a:cs typeface="Bahij Nazanin" panose="02040503050201020203" pitchFamily="18" charset="-78"/>
              <a:sym typeface="AGA Arabesque" panose="05000000000000000000" pitchFamily="2" charset="2"/>
            </a:endParaRPr>
          </a:p>
          <a:p>
            <a:pPr>
              <a:lnSpc>
                <a:spcPct val="100000"/>
              </a:lnSpc>
            </a:pPr>
            <a:r>
              <a:rPr lang="ps-AF" sz="3200" dirty="0">
                <a:latin typeface="Bahij Nazanin" panose="02040503050201020203" pitchFamily="18" charset="-78"/>
                <a:cs typeface="Bahij Nazanin" panose="02040503050201020203" pitchFamily="18" charset="-78"/>
              </a:rPr>
              <a:t>شمائل رسول الله عليه السلام</a:t>
            </a:r>
          </a:p>
          <a:p>
            <a:pPr>
              <a:lnSpc>
                <a:spcPct val="100000"/>
              </a:lnSpc>
            </a:pPr>
            <a:r>
              <a:rPr lang="ps-AF" sz="3200" dirty="0">
                <a:latin typeface="Bahij Nazanin" panose="02040503050201020203" pitchFamily="18" charset="-78"/>
                <a:cs typeface="Bahij Nazanin" panose="02040503050201020203" pitchFamily="18" charset="-78"/>
              </a:rPr>
              <a:t>منابع مضمون</a:t>
            </a:r>
            <a:endParaRPr lang="prs-AF" sz="3200" dirty="0">
              <a:latin typeface="Bahij Nazanin" panose="02040503050201020203" pitchFamily="18" charset="-78"/>
              <a:cs typeface="Bahij Nazanin" panose="02040503050201020203" pitchFamily="18" charset="-78"/>
            </a:endParaRPr>
          </a:p>
        </p:txBody>
      </p:sp>
    </p:spTree>
    <p:extLst>
      <p:ext uri="{BB962C8B-B14F-4D97-AF65-F5344CB8AC3E}">
        <p14:creationId xmlns:p14="http://schemas.microsoft.com/office/powerpoint/2010/main" val="3732543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prs-AF" dirty="0">
                <a:latin typeface="Adobe Arabic new" panose="02040703060201020203" pitchFamily="18" charset="-78"/>
                <a:cs typeface="Adobe Arabic new" panose="02040703060201020203" pitchFamily="18" charset="-78"/>
              </a:rPr>
              <a:t>مرور مختصر به درس گذشته</a:t>
            </a:r>
          </a:p>
        </p:txBody>
      </p:sp>
      <p:sp>
        <p:nvSpPr>
          <p:cNvPr id="3" name="Content Placeholder 2"/>
          <p:cNvSpPr>
            <a:spLocks noGrp="1"/>
          </p:cNvSpPr>
          <p:nvPr>
            <p:ph idx="1"/>
          </p:nvPr>
        </p:nvSpPr>
        <p:spPr/>
        <p:txBody>
          <a:bodyPr numCol="3" rtlCol="1">
            <a:noAutofit/>
          </a:bodyPr>
          <a:lstStyle/>
          <a:p>
            <a:pPr>
              <a:lnSpc>
                <a:spcPct val="100000"/>
              </a:lnSpc>
            </a:pPr>
            <a:r>
              <a:rPr lang="ps-AF" sz="4000" dirty="0">
                <a:latin typeface="Bahij Nazanin" panose="02040503050201020203" pitchFamily="18" charset="-78"/>
                <a:cs typeface="Bahij Nazanin" panose="02040503050201020203" pitchFamily="18" charset="-78"/>
              </a:rPr>
              <a:t>فتح مکه</a:t>
            </a:r>
          </a:p>
          <a:p>
            <a:pPr>
              <a:lnSpc>
                <a:spcPct val="100000"/>
              </a:lnSpc>
            </a:pPr>
            <a:r>
              <a:rPr lang="ps-AF" sz="4000" dirty="0">
                <a:latin typeface="Bahij Nazanin" panose="02040503050201020203" pitchFamily="18" charset="-78"/>
                <a:cs typeface="Bahij Nazanin" panose="02040503050201020203" pitchFamily="18" charset="-78"/>
              </a:rPr>
              <a:t>غزوه حنین</a:t>
            </a:r>
          </a:p>
          <a:p>
            <a:pPr>
              <a:lnSpc>
                <a:spcPct val="100000"/>
              </a:lnSpc>
            </a:pPr>
            <a:r>
              <a:rPr lang="ps-AF" sz="4000" dirty="0">
                <a:latin typeface="Bahij Nazanin" panose="02040503050201020203" pitchFamily="18" charset="-78"/>
                <a:cs typeface="Bahij Nazanin" panose="02040503050201020203" pitchFamily="18" charset="-78"/>
              </a:rPr>
              <a:t>غزوه تبوک</a:t>
            </a:r>
          </a:p>
        </p:txBody>
      </p:sp>
    </p:spTree>
    <p:extLst>
      <p:ext uri="{BB962C8B-B14F-4D97-AF65-F5344CB8AC3E}">
        <p14:creationId xmlns:p14="http://schemas.microsoft.com/office/powerpoint/2010/main" val="1421607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rs-AF" dirty="0">
                <a:latin typeface="Arial" panose="020B0604020202020204" pitchFamily="34" charset="0"/>
                <a:cs typeface="Arial" panose="020B0604020202020204" pitchFamily="34" charset="0"/>
              </a:rPr>
              <a:t>نتايج متوقع از درس</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lvl="1" algn="justLow">
              <a:lnSpc>
                <a:spcPct val="150000"/>
              </a:lnSpc>
            </a:pPr>
            <a:endParaRPr lang="ps-AF" sz="2800" dirty="0">
              <a:latin typeface="Bahij Nazanin" panose="02040503050201020203" pitchFamily="18" charset="-78"/>
              <a:cs typeface="Bahij Nazanin" panose="02040503050201020203" pitchFamily="18" charset="-78"/>
            </a:endParaRPr>
          </a:p>
          <a:p>
            <a:pPr lvl="1" algn="justLow">
              <a:lnSpc>
                <a:spcPct val="150000"/>
              </a:lnSpc>
            </a:pPr>
            <a:r>
              <a:rPr lang="ps-AF" sz="2800" dirty="0">
                <a:latin typeface="Bahij Nazanin" panose="02040503050201020203" pitchFamily="18" charset="-78"/>
                <a:cs typeface="Bahij Nazanin" panose="02040503050201020203" pitchFamily="18" charset="-78"/>
              </a:rPr>
              <a:t>خواندن</a:t>
            </a:r>
            <a:r>
              <a:rPr lang="prs-AF" sz="2800" dirty="0">
                <a:latin typeface="Bahij Nazanin" panose="02040503050201020203" pitchFamily="18" charset="-78"/>
                <a:cs typeface="Bahij Nazanin" panose="02040503050201020203" pitchFamily="18" charset="-78"/>
              </a:rPr>
              <a:t> ودانستن</a:t>
            </a:r>
            <a:r>
              <a:rPr lang="ps-AF" sz="2800" dirty="0">
                <a:latin typeface="Bahij Nazanin" panose="02040503050201020203" pitchFamily="18" charset="-78"/>
                <a:cs typeface="Bahij Nazanin" panose="02040503050201020203" pitchFamily="18" charset="-78"/>
              </a:rPr>
              <a:t> محتوای خطبه حجة الوداع </a:t>
            </a:r>
            <a:endParaRPr lang="en-US" sz="2800" dirty="0">
              <a:latin typeface="Bahij Nazanin" panose="02040503050201020203" pitchFamily="18" charset="-78"/>
              <a:cs typeface="Bahij Nazanin" panose="02040503050201020203" pitchFamily="18" charset="-78"/>
            </a:endParaRPr>
          </a:p>
          <a:p>
            <a:pPr lvl="1" algn="justLow">
              <a:lnSpc>
                <a:spcPct val="150000"/>
              </a:lnSpc>
            </a:pPr>
            <a:r>
              <a:rPr lang="ps-AF" sz="2800" dirty="0">
                <a:latin typeface="Bahij Nazanin" panose="02040503050201020203" pitchFamily="18" charset="-78"/>
                <a:cs typeface="Bahij Nazanin" panose="02040503050201020203" pitchFamily="18" charset="-78"/>
              </a:rPr>
              <a:t>لحظات آخر حيات رسول الله </a:t>
            </a:r>
            <a:endParaRPr lang="en-US" sz="2800" dirty="0">
              <a:latin typeface="Bahij Nazanin" panose="02040503050201020203" pitchFamily="18" charset="-78"/>
              <a:cs typeface="Bahij Nazanin" panose="02040503050201020203" pitchFamily="18" charset="-78"/>
            </a:endParaRPr>
          </a:p>
          <a:p>
            <a:pPr lvl="1" algn="justLow">
              <a:lnSpc>
                <a:spcPct val="150000"/>
              </a:lnSpc>
            </a:pPr>
            <a:r>
              <a:rPr lang="ps-AF" sz="2800" dirty="0">
                <a:latin typeface="Bahij Nazanin" panose="02040503050201020203" pitchFamily="18" charset="-78"/>
                <a:cs typeface="Bahij Nazanin" panose="02040503050201020203" pitchFamily="18" charset="-78"/>
              </a:rPr>
              <a:t>شمائل آنحضرت عليه السلام</a:t>
            </a:r>
          </a:p>
          <a:p>
            <a:pPr>
              <a:lnSpc>
                <a:spcPct val="150000"/>
              </a:lnSpc>
            </a:pPr>
            <a:endParaRPr lang="en-US" dirty="0">
              <a:latin typeface="Bahij Nazanin" panose="02040503050201020203" pitchFamily="18" charset="-78"/>
              <a:cs typeface="Bahij Nazanin" panose="02040503050201020203" pitchFamily="18" charset="-78"/>
            </a:endParaRPr>
          </a:p>
        </p:txBody>
      </p:sp>
    </p:spTree>
    <p:extLst>
      <p:ext uri="{BB962C8B-B14F-4D97-AF65-F5344CB8AC3E}">
        <p14:creationId xmlns:p14="http://schemas.microsoft.com/office/powerpoint/2010/main" val="1006157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7567" y="216817"/>
            <a:ext cx="9968061" cy="1181678"/>
          </a:xfrm>
        </p:spPr>
        <p:txBody>
          <a:bodyPr>
            <a:noAutofit/>
          </a:bodyPr>
          <a:lstStyle/>
          <a:p>
            <a:pPr algn="ctr"/>
            <a:r>
              <a:rPr lang="ps-AF" sz="5400" dirty="0">
                <a:solidFill>
                  <a:schemeClr val="accent1">
                    <a:lumMod val="75000"/>
                  </a:schemeClr>
                </a:solidFill>
                <a:latin typeface="Adobe Arabic new" panose="02040703060201020203" pitchFamily="18" charset="-78"/>
                <a:ea typeface="+mn-ea"/>
                <a:cs typeface="Adobe Arabic new" panose="02040703060201020203" pitchFamily="18" charset="-78"/>
              </a:rPr>
              <a:t>حجة الوداع</a:t>
            </a:r>
            <a:endParaRPr lang="en-US" sz="5400" dirty="0">
              <a:solidFill>
                <a:schemeClr val="accent1">
                  <a:lumMod val="75000"/>
                </a:schemeClr>
              </a:solidFill>
              <a:latin typeface="Adobe Arabic new" panose="02040703060201020203" pitchFamily="18" charset="-78"/>
              <a:ea typeface="+mn-ea"/>
              <a:cs typeface="Adobe Arabic new" panose="02040703060201020203" pitchFamily="18" charset="-78"/>
            </a:endParaRPr>
          </a:p>
        </p:txBody>
      </p:sp>
      <p:sp>
        <p:nvSpPr>
          <p:cNvPr id="3" name="Content Placeholder 2"/>
          <p:cNvSpPr>
            <a:spLocks noGrp="1"/>
          </p:cNvSpPr>
          <p:nvPr>
            <p:ph idx="1"/>
          </p:nvPr>
        </p:nvSpPr>
        <p:spPr>
          <a:xfrm>
            <a:off x="535369" y="1121790"/>
            <a:ext cx="11326073" cy="4911365"/>
          </a:xfrm>
        </p:spPr>
        <p:txBody>
          <a:bodyPr>
            <a:noAutofit/>
          </a:bodyPr>
          <a:lstStyle/>
          <a:p>
            <a:pPr marL="0" indent="0" algn="justLow">
              <a:lnSpc>
                <a:spcPct val="100000"/>
              </a:lnSpc>
              <a:buNone/>
            </a:pPr>
            <a:r>
              <a:rPr lang="fa-IR" sz="3200" b="1" dirty="0">
                <a:latin typeface="Bahij Nazanin" panose="02040503050201020203" pitchFamily="18" charset="-78"/>
                <a:cs typeface="Bahij Nazanin" panose="02040503050201020203" pitchFamily="18" charset="-78"/>
              </a:rPr>
              <a:t>پیامبر عليه السلام پیش از وفاتش حجی را انجام داد که به (حجة الوداع) مشهور است، و این تنها حجی بود که رسول خدا ج در تمام حیاتش انجام داد. </a:t>
            </a:r>
            <a:endParaRPr lang="en-US" sz="3200" b="1" dirty="0">
              <a:latin typeface="Bahij Nazanin" panose="02040503050201020203" pitchFamily="18" charset="-78"/>
              <a:cs typeface="Bahij Nazanin" panose="02040503050201020203" pitchFamily="18" charset="-78"/>
            </a:endParaRPr>
          </a:p>
          <a:p>
            <a:pPr marL="0" indent="0" algn="justLow">
              <a:lnSpc>
                <a:spcPct val="100000"/>
              </a:lnSpc>
              <a:buNone/>
            </a:pPr>
            <a:r>
              <a:rPr lang="fa-IR" sz="3200" b="1" dirty="0">
                <a:latin typeface="Bahij Nazanin" panose="02040503050201020203" pitchFamily="18" charset="-78"/>
                <a:cs typeface="Bahij Nazanin" panose="02040503050201020203" pitchFamily="18" charset="-78"/>
              </a:rPr>
              <a:t>وقتی مردم شنیدند که در آن سال پیامبر عليه السلام می‌خواهد حج را انجام دهد آنان از منطقه‌های گوناگون جزیرة العرب برای انجام حج به مکه آمدند، پیامبر عليه السلام در این مراسم خطبه‌ی مهمی ایراد فرمود که بعنوان آخرین خطبه‌ی آن حضرت مشهور است و در آن آمده: </a:t>
            </a:r>
            <a:endParaRPr lang="ps-AF" sz="3200" b="1" dirty="0">
              <a:latin typeface="Bahij Nazanin" panose="02040503050201020203" pitchFamily="18" charset="-78"/>
              <a:cs typeface="Bahij Nazanin" panose="02040503050201020203" pitchFamily="18" charset="-78"/>
            </a:endParaRPr>
          </a:p>
          <a:p>
            <a:pPr marL="0" indent="0" algn="justLow">
              <a:lnSpc>
                <a:spcPct val="100000"/>
              </a:lnSpc>
              <a:buNone/>
            </a:pPr>
            <a:r>
              <a:rPr lang="fa-IR" sz="3200" b="1" dirty="0">
                <a:latin typeface="Bahij Nazanin" panose="02040503050201020203" pitchFamily="18" charset="-78"/>
                <a:cs typeface="Bahij Nazanin" panose="02040503050201020203" pitchFamily="18" charset="-78"/>
              </a:rPr>
              <a:t>ای مردم! حرف مرا گوش کنید شاید من بعد از امسال دیگر شما را در این مکان نبینم، ای مردم، خون و اموال شما بر همدیگر حرام است تا به حضور خداوند خویش بازگردید همچنانکه در این روز و در این شهر حرام است، و همانا شما در قیامت به حضور خدای خویش خواهید رفت و در مورد کردارتان از شما خواهد پرسید. </a:t>
            </a:r>
            <a:endParaRPr lang="en-US" sz="3200" b="1" dirty="0">
              <a:latin typeface="Bahij Nazanin" panose="02040503050201020203" pitchFamily="18" charset="-78"/>
              <a:cs typeface="Bahij Nazanin" panose="02040503050201020203" pitchFamily="18" charset="-78"/>
            </a:endParaRPr>
          </a:p>
        </p:txBody>
      </p:sp>
    </p:spTree>
    <p:extLst>
      <p:ext uri="{BB962C8B-B14F-4D97-AF65-F5344CB8AC3E}">
        <p14:creationId xmlns:p14="http://schemas.microsoft.com/office/powerpoint/2010/main" val="2374755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s-AF" dirty="0">
                <a:latin typeface="Arial" panose="020B0604020202020204" pitchFamily="34" charset="0"/>
                <a:cs typeface="Arial" panose="020B0604020202020204" pitchFamily="34" charset="0"/>
              </a:rPr>
              <a:t>آغاز مریضی</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marL="0" indent="0" algn="justLow">
              <a:buNone/>
            </a:pPr>
            <a:r>
              <a:rPr lang="fa-IR" sz="3200" b="1" dirty="0">
                <a:latin typeface="Bahij Nazanin" panose="02040503050201020203" pitchFamily="18" charset="-78"/>
                <a:cs typeface="Bahij Nazanin" panose="02040503050201020203" pitchFamily="18" charset="-78"/>
              </a:rPr>
              <a:t>پیامبر عليه السلام پیش از وفات از طریق وحی به نزدیکی بودن اجلش آگاه شده بود و در (حجة الوداع) با مردم خداحافظی کرد</a:t>
            </a:r>
            <a:r>
              <a:rPr lang="ps-AF" sz="3200" b="1" dirty="0">
                <a:latin typeface="Bahij Nazanin" panose="02040503050201020203" pitchFamily="18" charset="-78"/>
                <a:cs typeface="Bahij Nazanin" panose="02040503050201020203" pitchFamily="18" charset="-78"/>
              </a:rPr>
              <a:t>ه بود</a:t>
            </a:r>
            <a:r>
              <a:rPr lang="fa-IR" sz="3200" b="1" dirty="0">
                <a:latin typeface="Bahij Nazanin" panose="02040503050201020203" pitchFamily="18" charset="-78"/>
                <a:cs typeface="Bahij Nazanin" panose="02040503050201020203" pitchFamily="18" charset="-78"/>
              </a:rPr>
              <a:t>. </a:t>
            </a:r>
            <a:endParaRPr lang="ps-AF" sz="3200" b="1" dirty="0">
              <a:latin typeface="Bahij Nazanin" panose="02040503050201020203" pitchFamily="18" charset="-78"/>
              <a:cs typeface="Bahij Nazanin" panose="02040503050201020203" pitchFamily="18" charset="-78"/>
            </a:endParaRPr>
          </a:p>
          <a:p>
            <a:pPr marL="0" indent="0" algn="justLow">
              <a:buNone/>
            </a:pPr>
            <a:r>
              <a:rPr lang="ar-SA" sz="3200" b="1" dirty="0">
                <a:latin typeface="Bahij Nazanin" panose="02040503050201020203" pitchFamily="18" charset="-78"/>
                <a:cs typeface="Bahij Nazanin" panose="02040503050201020203" pitchFamily="18" charset="-78"/>
              </a:rPr>
              <a:t>روز دوشنبه بیست و هشتم یا بیست ونهم صفر سال یازدهم هجری رسول خدا </a:t>
            </a:r>
            <a:r>
              <a:rPr lang="en-US" sz="3200" b="1" dirty="0">
                <a:latin typeface="Bahij Nazanin" panose="02040503050201020203" pitchFamily="18" charset="-78"/>
                <a:cs typeface="Bahij Nazanin" panose="02040503050201020203" pitchFamily="18" charset="-78"/>
                <a:sym typeface="AGA Arabesque" panose="05000000000000000000" pitchFamily="2" charset="2"/>
              </a:rPr>
              <a:t></a:t>
            </a:r>
            <a:r>
              <a:rPr lang="ar-SA" sz="3200" b="1" dirty="0">
                <a:latin typeface="Bahij Nazanin" panose="02040503050201020203" pitchFamily="18" charset="-78"/>
                <a:cs typeface="Bahij Nazanin" panose="02040503050201020203" pitchFamily="18" charset="-78"/>
              </a:rPr>
              <a:t> در تشییع جنازه ای در بقیع شرکت کرد. وقتی باز می گشت، در راه دچار سردرد شدیدی شد و حرارت بدن ایشان بالا رفت تا جایی که می گویند از روی پارچه ای که رسول خدا </a:t>
            </a:r>
            <a:r>
              <a:rPr lang="en-US" sz="3200" b="1" dirty="0">
                <a:latin typeface="Bahij Nazanin" panose="02040503050201020203" pitchFamily="18" charset="-78"/>
                <a:cs typeface="Bahij Nazanin" panose="02040503050201020203" pitchFamily="18" charset="-78"/>
                <a:sym typeface="AGA Arabesque" panose="05000000000000000000" pitchFamily="2" charset="2"/>
              </a:rPr>
              <a:t></a:t>
            </a:r>
            <a:r>
              <a:rPr lang="ar-SA" sz="3200" b="1" dirty="0">
                <a:latin typeface="Bahij Nazanin" panose="02040503050201020203" pitchFamily="18" charset="-78"/>
                <a:cs typeface="Bahij Nazanin" panose="02040503050201020203" pitchFamily="18" charset="-78"/>
              </a:rPr>
              <a:t> بر پیشانی خود بسته بود، حرارت احساس می شد. رسول خدا </a:t>
            </a:r>
            <a:r>
              <a:rPr lang="en-US" sz="3200" b="1" dirty="0">
                <a:latin typeface="Bahij Nazanin" panose="02040503050201020203" pitchFamily="18" charset="-78"/>
                <a:cs typeface="Bahij Nazanin" panose="02040503050201020203" pitchFamily="18" charset="-78"/>
                <a:sym typeface="AGA Arabesque" panose="05000000000000000000" pitchFamily="2" charset="2"/>
              </a:rPr>
              <a:t></a:t>
            </a:r>
            <a:r>
              <a:rPr lang="ar-SA" sz="3200" b="1" dirty="0">
                <a:latin typeface="Bahij Nazanin" panose="02040503050201020203" pitchFamily="18" charset="-78"/>
                <a:cs typeface="Bahij Nazanin" panose="02040503050201020203" pitchFamily="18" charset="-78"/>
              </a:rPr>
              <a:t> 11 روز در حال بیماری با مردم نماز می خواندند. بیماری ایشان روی هم رفته، سیز</a:t>
            </a:r>
            <a:r>
              <a:rPr lang="ps-AF" sz="3200" b="1" dirty="0">
                <a:latin typeface="Bahij Nazanin" panose="02040503050201020203" pitchFamily="18" charset="-78"/>
                <a:cs typeface="Bahij Nazanin" panose="02040503050201020203" pitchFamily="18" charset="-78"/>
              </a:rPr>
              <a:t>د</a:t>
            </a:r>
            <a:r>
              <a:rPr lang="ar-SA" sz="3200" b="1" dirty="0">
                <a:latin typeface="Bahij Nazanin" panose="02040503050201020203" pitchFamily="18" charset="-78"/>
                <a:cs typeface="Bahij Nazanin" panose="02040503050201020203" pitchFamily="18" charset="-78"/>
              </a:rPr>
              <a:t>ه یا چهارده روز، طول کشید.</a:t>
            </a:r>
            <a:endParaRPr lang="en-US" sz="3200" b="1" dirty="0">
              <a:latin typeface="Bahij Nazanin" panose="02040503050201020203" pitchFamily="18" charset="-78"/>
              <a:cs typeface="Bahij Nazanin" panose="02040503050201020203" pitchFamily="18" charset="-78"/>
            </a:endParaRPr>
          </a:p>
          <a:p>
            <a:pPr marL="0" indent="0" algn="justLow">
              <a:buNone/>
            </a:pPr>
            <a:endParaRPr lang="en-US" sz="3200" b="1" dirty="0">
              <a:latin typeface="Bahij Nazanin" panose="02040503050201020203" pitchFamily="18" charset="-78"/>
              <a:cs typeface="Bahij Nazanin" panose="02040503050201020203" pitchFamily="18" charset="-78"/>
            </a:endParaRPr>
          </a:p>
        </p:txBody>
      </p:sp>
    </p:spTree>
    <p:extLst>
      <p:ext uri="{BB962C8B-B14F-4D97-AF65-F5344CB8AC3E}">
        <p14:creationId xmlns:p14="http://schemas.microsoft.com/office/powerpoint/2010/main" val="3468288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ar-SA" sz="5400" dirty="0">
                <a:latin typeface="Adobe Arabic new" panose="02040703060201020203" pitchFamily="18" charset="-78"/>
                <a:cs typeface="Adobe Arabic new" panose="02040703060201020203" pitchFamily="18" charset="-78"/>
              </a:rPr>
              <a:t>آخرین روز زندگی پیامبر </a:t>
            </a:r>
            <a:r>
              <a:rPr lang="en-US" sz="5400" dirty="0">
                <a:latin typeface="Adobe Arabic new" panose="02040703060201020203" pitchFamily="18" charset="-78"/>
                <a:cs typeface="Adobe Arabic new" panose="02040703060201020203" pitchFamily="18" charset="-78"/>
                <a:sym typeface="AGA Arabesque" panose="05000000000000000000" pitchFamily="2" charset="2"/>
              </a:rPr>
              <a:t></a:t>
            </a:r>
            <a:endParaRPr lang="en-US" sz="5400" dirty="0"/>
          </a:p>
        </p:txBody>
      </p:sp>
      <p:sp>
        <p:nvSpPr>
          <p:cNvPr id="3" name="Content Placeholder 2"/>
          <p:cNvSpPr>
            <a:spLocks noGrp="1"/>
          </p:cNvSpPr>
          <p:nvPr>
            <p:ph idx="1"/>
          </p:nvPr>
        </p:nvSpPr>
        <p:spPr/>
        <p:txBody>
          <a:bodyPr>
            <a:normAutofit/>
          </a:bodyPr>
          <a:lstStyle/>
          <a:p>
            <a:pPr marL="0" indent="0" algn="justLow">
              <a:buNone/>
            </a:pPr>
            <a:r>
              <a:rPr lang="ar-SA" sz="3200" b="1" dirty="0">
                <a:latin typeface="Bahij Nazanin" panose="02040503050201020203" pitchFamily="18" charset="-78"/>
                <a:cs typeface="Bahij Nazanin" panose="02040503050201020203" pitchFamily="18" charset="-78"/>
              </a:rPr>
              <a:t>انس بن مالک روایت می کند: مسلمانان روز دوشنبه در مسجد، نماز صبح را به امامت ابوبکر </a:t>
            </a:r>
            <a:r>
              <a:rPr lang="en-US" sz="3200" b="1" dirty="0">
                <a:latin typeface="Bahij Nazanin" panose="02040503050201020203" pitchFamily="18" charset="-78"/>
                <a:cs typeface="Bahij Nazanin" panose="02040503050201020203" pitchFamily="18" charset="-78"/>
                <a:sym typeface="AGA Arabesque" panose="05000000000000000000" pitchFamily="2" charset="2"/>
              </a:rPr>
              <a:t></a:t>
            </a:r>
            <a:r>
              <a:rPr lang="ar-SA" sz="3200" b="1" dirty="0">
                <a:latin typeface="Bahij Nazanin" panose="02040503050201020203" pitchFamily="18" charset="-78"/>
                <a:cs typeface="Bahij Nazanin" panose="02040503050201020203" pitchFamily="18" charset="-78"/>
              </a:rPr>
              <a:t> می خواندند که ناگهان رسول خدا </a:t>
            </a:r>
            <a:r>
              <a:rPr lang="en-US" sz="3200" b="1" dirty="0">
                <a:latin typeface="Bahij Nazanin" panose="02040503050201020203" pitchFamily="18" charset="-78"/>
                <a:cs typeface="Bahij Nazanin" panose="02040503050201020203" pitchFamily="18" charset="-78"/>
                <a:sym typeface="AGA Arabesque" panose="05000000000000000000" pitchFamily="2" charset="2"/>
              </a:rPr>
              <a:t></a:t>
            </a:r>
            <a:r>
              <a:rPr lang="ar-SA" sz="3200" b="1" dirty="0">
                <a:latin typeface="Bahij Nazanin" panose="02040503050201020203" pitchFamily="18" charset="-78"/>
                <a:cs typeface="Bahij Nazanin" panose="02040503050201020203" pitchFamily="18" charset="-78"/>
              </a:rPr>
              <a:t> پرده خانه عایشه را کنار زد و از داخل خانه در حالی که مردم با صف هایی فشرده نماز می گزاردند، به آنها نگاهی کرد و تبسم فرمود. ابوبکر خواست عقب برود و در صف نماز قرار بگیرد؛ زیرا گمان کرده بود که رسول خدا </a:t>
            </a:r>
            <a:r>
              <a:rPr lang="en-US" sz="3200" b="1" dirty="0">
                <a:latin typeface="Bahij Nazanin" panose="02040503050201020203" pitchFamily="18" charset="-78"/>
                <a:cs typeface="Bahij Nazanin" panose="02040503050201020203" pitchFamily="18" charset="-78"/>
                <a:sym typeface="AGA Arabesque" panose="05000000000000000000" pitchFamily="2" charset="2"/>
              </a:rPr>
              <a:t></a:t>
            </a:r>
            <a:r>
              <a:rPr lang="ar-SA" sz="3200" b="1" dirty="0">
                <a:latin typeface="Bahij Nazanin" panose="02040503050201020203" pitchFamily="18" charset="-78"/>
                <a:cs typeface="Bahij Nazanin" panose="02040503050201020203" pitchFamily="18" charset="-78"/>
              </a:rPr>
              <a:t> می خواهد برای نماز بیرون بیاید.</a:t>
            </a:r>
            <a:endParaRPr lang="en-US" sz="3200" b="1" dirty="0">
              <a:latin typeface="Bahij Nazanin" panose="02040503050201020203" pitchFamily="18" charset="-78"/>
              <a:cs typeface="Bahij Nazanin" panose="02040503050201020203" pitchFamily="18" charset="-78"/>
            </a:endParaRPr>
          </a:p>
          <a:p>
            <a:pPr marL="0" indent="0" algn="justLow">
              <a:buNone/>
            </a:pPr>
            <a:r>
              <a:rPr lang="ar-SA" sz="3200" b="1" dirty="0">
                <a:latin typeface="Bahij Nazanin" panose="02040503050201020203" pitchFamily="18" charset="-78"/>
                <a:cs typeface="Bahij Nazanin" panose="02040503050201020203" pitchFamily="18" charset="-78"/>
              </a:rPr>
              <a:t>انس </a:t>
            </a:r>
            <a:r>
              <a:rPr lang="ps-AF" sz="3200" b="1" dirty="0">
                <a:latin typeface="Bahij Nazanin" panose="02040503050201020203" pitchFamily="18" charset="-78"/>
                <a:cs typeface="Bahij Nazanin" panose="02040503050201020203" pitchFamily="18" charset="-78"/>
              </a:rPr>
              <a:t>می </a:t>
            </a:r>
            <a:r>
              <a:rPr lang="ar-SA" sz="3200" b="1" dirty="0">
                <a:latin typeface="Bahij Nazanin" panose="02040503050201020203" pitchFamily="18" charset="-78"/>
                <a:cs typeface="Bahij Nazanin" panose="02040503050201020203" pitchFamily="18" charset="-78"/>
              </a:rPr>
              <a:t>گوید: مردم از فرط شادی خواستند نمازشان را قطع کنند! اما رسول خدا </a:t>
            </a:r>
            <a:r>
              <a:rPr lang="en-US" sz="3200" b="1" dirty="0">
                <a:latin typeface="Bahij Nazanin" panose="02040503050201020203" pitchFamily="18" charset="-78"/>
                <a:cs typeface="Bahij Nazanin" panose="02040503050201020203" pitchFamily="18" charset="-78"/>
                <a:sym typeface="AGA Arabesque" panose="05000000000000000000" pitchFamily="2" charset="2"/>
              </a:rPr>
              <a:t></a:t>
            </a:r>
            <a:r>
              <a:rPr lang="ar-SA" sz="3200" b="1" dirty="0">
                <a:latin typeface="Bahij Nazanin" panose="02040503050201020203" pitchFamily="18" charset="-78"/>
                <a:cs typeface="Bahij Nazanin" panose="02040503050201020203" pitchFamily="18" charset="-78"/>
              </a:rPr>
              <a:t> با دست مبارک اشاره نمود که نمازتان را تمام کنید و پرده را انداخت و داخل خانه رفت.</a:t>
            </a:r>
            <a:endParaRPr lang="en-US" sz="3200" b="1" dirty="0">
              <a:latin typeface="Bahij Nazanin" panose="02040503050201020203" pitchFamily="18" charset="-78"/>
              <a:cs typeface="Bahij Nazanin" panose="02040503050201020203" pitchFamily="18" charset="-78"/>
            </a:endParaRPr>
          </a:p>
        </p:txBody>
      </p:sp>
    </p:spTree>
    <p:extLst>
      <p:ext uri="{BB962C8B-B14F-4D97-AF65-F5344CB8AC3E}">
        <p14:creationId xmlns:p14="http://schemas.microsoft.com/office/powerpoint/2010/main" val="1166085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s-AF" dirty="0">
                <a:cs typeface="+mn-cs"/>
              </a:rPr>
              <a:t>وفات رسول اکرم </a:t>
            </a:r>
            <a:r>
              <a:rPr lang="en-US" dirty="0">
                <a:latin typeface="Adobe Arabic new" panose="02040703060201020203" pitchFamily="18" charset="-78"/>
                <a:cs typeface="+mn-cs"/>
                <a:sym typeface="AGA Arabesque" panose="05000000000000000000" pitchFamily="2" charset="2"/>
              </a:rPr>
              <a:t></a:t>
            </a:r>
            <a:endParaRPr lang="en-US" dirty="0">
              <a:cs typeface="+mn-cs"/>
            </a:endParaRPr>
          </a:p>
        </p:txBody>
      </p:sp>
      <p:sp>
        <p:nvSpPr>
          <p:cNvPr id="3" name="Content Placeholder 2"/>
          <p:cNvSpPr>
            <a:spLocks noGrp="1"/>
          </p:cNvSpPr>
          <p:nvPr>
            <p:ph idx="1"/>
          </p:nvPr>
        </p:nvSpPr>
        <p:spPr>
          <a:xfrm>
            <a:off x="518616" y="1398493"/>
            <a:ext cx="11080259" cy="4917465"/>
          </a:xfrm>
        </p:spPr>
        <p:txBody>
          <a:bodyPr>
            <a:normAutofit fontScale="92500" lnSpcReduction="20000"/>
          </a:bodyPr>
          <a:lstStyle/>
          <a:p>
            <a:pPr marL="0" indent="0" algn="justLow">
              <a:lnSpc>
                <a:spcPct val="110000"/>
              </a:lnSpc>
              <a:buNone/>
            </a:pPr>
            <a:r>
              <a:rPr lang="ps-AF" sz="3200" b="1" dirty="0">
                <a:latin typeface="Bahij Nazanin" panose="02040503050201020203" pitchFamily="18" charset="-78"/>
                <a:cs typeface="Bahij Nazanin" panose="02040503050201020203" pitchFamily="18" charset="-78"/>
              </a:rPr>
              <a:t>أم المؤمنین عائشه رضي الله عنها می فرماید در اوقات اخیر حیات رسول الله از مسواک استفاده می کرد، </a:t>
            </a:r>
            <a:r>
              <a:rPr lang="ar-SA" sz="3200" b="1" dirty="0">
                <a:latin typeface="Bahij Nazanin" panose="02040503050201020203" pitchFamily="18" charset="-78"/>
                <a:cs typeface="Bahij Nazanin" panose="02040503050201020203" pitchFamily="18" charset="-78"/>
              </a:rPr>
              <a:t>ظرف آبی پیش رویش قرار داشت؛ دستش را با آن آب خیس می کرد و به صورتش می کشید و می گفت: «لا اله الا الله» مرگ سکرات و سختی های دشواری دارد!</a:t>
            </a:r>
            <a:endParaRPr lang="en-US" sz="3200" b="1" dirty="0">
              <a:latin typeface="Bahij Nazanin" panose="02040503050201020203" pitchFamily="18" charset="-78"/>
              <a:cs typeface="Bahij Nazanin" panose="02040503050201020203" pitchFamily="18" charset="-78"/>
            </a:endParaRPr>
          </a:p>
          <a:p>
            <a:pPr marL="0" indent="0" algn="justLow">
              <a:lnSpc>
                <a:spcPct val="110000"/>
              </a:lnSpc>
              <a:buNone/>
            </a:pPr>
            <a:r>
              <a:rPr lang="ar-SA" sz="3200" b="1" dirty="0">
                <a:latin typeface="Bahij Nazanin" panose="02040503050201020203" pitchFamily="18" charset="-78"/>
                <a:cs typeface="Bahij Nazanin" panose="02040503050201020203" pitchFamily="18" charset="-78"/>
              </a:rPr>
              <a:t>چیزی از مسواک زدن پیامبر </a:t>
            </a:r>
            <a:r>
              <a:rPr lang="en-US" sz="3200" b="1" dirty="0">
                <a:latin typeface="Bahij Nazanin" panose="02040503050201020203" pitchFamily="18" charset="-78"/>
                <a:cs typeface="Bahij Nazanin" panose="02040503050201020203" pitchFamily="18" charset="-78"/>
                <a:sym typeface="AGA Arabesque" panose="05000000000000000000" pitchFamily="2" charset="2"/>
              </a:rPr>
              <a:t></a:t>
            </a:r>
            <a:r>
              <a:rPr lang="ar-SA" sz="3200" b="1" dirty="0">
                <a:latin typeface="Bahij Nazanin" panose="02040503050201020203" pitchFamily="18" charset="-78"/>
                <a:cs typeface="Bahij Nazanin" panose="02040503050201020203" pitchFamily="18" charset="-78"/>
              </a:rPr>
              <a:t> باقی نمانده بود که دستش یا انگشتش را بلند نمود. و چشمانش به طرف سقف بلند شد و لبانش حرکتی کرد. عایشه آن حضرت را بطرف خودش مایل نمود و ایشان می گفت: با آن کسانی که به آنان نعمت داده ای، اعم از پیامبران، صدیقان و شهدا و صالحین؛ بار خدایا! مرا بیامرز و مرا مشمول رحمتت بگردان و مرا به ملکوت اعلی برسان؛ بار خدایا! به رفیق اعلی! و جمله آخر را سه بار تکرار کرد و دستش افتاد و به رفیق اعلی پیوست. «انا لله و انا الیه راجعون» لحظه وفات رسول خدا </a:t>
            </a:r>
            <a:r>
              <a:rPr lang="en-US" sz="3200" b="1" dirty="0">
                <a:latin typeface="Bahij Nazanin" panose="02040503050201020203" pitchFamily="18" charset="-78"/>
                <a:cs typeface="Bahij Nazanin" panose="02040503050201020203" pitchFamily="18" charset="-78"/>
                <a:sym typeface="AGA Arabesque" panose="05000000000000000000" pitchFamily="2" charset="2"/>
              </a:rPr>
              <a:t></a:t>
            </a:r>
            <a:r>
              <a:rPr lang="ar-SA" sz="3200" b="1" dirty="0">
                <a:latin typeface="Bahij Nazanin" panose="02040503050201020203" pitchFamily="18" charset="-78"/>
                <a:cs typeface="Bahij Nazanin" panose="02040503050201020203" pitchFamily="18" charset="-78"/>
              </a:rPr>
              <a:t> در شدت گرمای قبل از ظهر روز دوشنبه 12 ربیع الاول سال 11 هجری بود. بدین ترتیب عمر ایشان 63 سال و چهار روز بوده است.</a:t>
            </a:r>
            <a:endParaRPr lang="en-US" sz="3200" b="1" dirty="0">
              <a:latin typeface="Bahij Nazanin" panose="02040503050201020203" pitchFamily="18" charset="-78"/>
              <a:cs typeface="Bahij Nazanin" panose="02040503050201020203" pitchFamily="18" charset="-78"/>
            </a:endParaRPr>
          </a:p>
        </p:txBody>
      </p:sp>
    </p:spTree>
    <p:extLst>
      <p:ext uri="{BB962C8B-B14F-4D97-AF65-F5344CB8AC3E}">
        <p14:creationId xmlns:p14="http://schemas.microsoft.com/office/powerpoint/2010/main" val="161281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ar-SA" dirty="0">
                <a:cs typeface="+mn-cs"/>
              </a:rPr>
              <a:t>خاکسپاری پیکر رسول اکرم </a:t>
            </a:r>
            <a:r>
              <a:rPr lang="en-US" dirty="0">
                <a:cs typeface="+mn-cs"/>
                <a:sym typeface="AGA Arabesque" panose="05000000000000000000" pitchFamily="2" charset="2"/>
              </a:rPr>
              <a:t></a:t>
            </a:r>
            <a:endParaRPr lang="en-US" dirty="0">
              <a:cs typeface="+mn-cs"/>
            </a:endParaRPr>
          </a:p>
        </p:txBody>
      </p:sp>
      <p:sp>
        <p:nvSpPr>
          <p:cNvPr id="3" name="Content Placeholder 2"/>
          <p:cNvSpPr>
            <a:spLocks noGrp="1"/>
          </p:cNvSpPr>
          <p:nvPr>
            <p:ph idx="1"/>
          </p:nvPr>
        </p:nvSpPr>
        <p:spPr/>
        <p:txBody>
          <a:bodyPr>
            <a:normAutofit lnSpcReduction="10000"/>
          </a:bodyPr>
          <a:lstStyle/>
          <a:p>
            <a:pPr marL="0" indent="0" algn="justLow">
              <a:buNone/>
            </a:pPr>
            <a:r>
              <a:rPr lang="ar-SA" sz="3200" b="1" dirty="0">
                <a:latin typeface="Bahij Nazanin" panose="02040503050201020203" pitchFamily="18" charset="-78"/>
                <a:cs typeface="Bahij Nazanin" panose="02040503050201020203" pitchFamily="18" charset="-78"/>
              </a:rPr>
              <a:t>روز سه شنبه رسول خدا </a:t>
            </a:r>
            <a:r>
              <a:rPr lang="en-US" sz="3200" b="1" dirty="0">
                <a:latin typeface="Bahij Nazanin" panose="02040503050201020203" pitchFamily="18" charset="-78"/>
                <a:cs typeface="Bahij Nazanin" panose="02040503050201020203" pitchFamily="18" charset="-78"/>
                <a:sym typeface="AGA Arabesque" panose="05000000000000000000" pitchFamily="2" charset="2"/>
              </a:rPr>
              <a:t></a:t>
            </a:r>
            <a:r>
              <a:rPr lang="ar-SA" sz="3200" b="1" dirty="0">
                <a:latin typeface="Bahij Nazanin" panose="02040503050201020203" pitchFamily="18" charset="-78"/>
                <a:cs typeface="Bahij Nazanin" panose="02040503050201020203" pitchFamily="18" charset="-78"/>
              </a:rPr>
              <a:t> را با همان لباسها غسل دادند. کسانی که جنازه ایشان را غسل دادند، عبارتند از: عباس، علی، فضل و قثم فرزندان عباس و شقران برده آزاد شده رسول خدا</a:t>
            </a:r>
            <a:r>
              <a:rPr lang="en-US" sz="3200" b="1" dirty="0">
                <a:latin typeface="Bahij Nazanin" panose="02040503050201020203" pitchFamily="18" charset="-78"/>
                <a:cs typeface="Bahij Nazanin" panose="02040503050201020203" pitchFamily="18" charset="-78"/>
                <a:sym typeface="AGA Arabesque" panose="05000000000000000000" pitchFamily="2" charset="2"/>
              </a:rPr>
              <a:t></a:t>
            </a:r>
            <a:r>
              <a:rPr lang="ar-SA" sz="3200" b="1" dirty="0">
                <a:latin typeface="Bahij Nazanin" panose="02040503050201020203" pitchFamily="18" charset="-78"/>
                <a:cs typeface="Bahij Nazanin" panose="02040503050201020203" pitchFamily="18" charset="-78"/>
              </a:rPr>
              <a:t> و اسامه بن زید واوس بن خولی.</a:t>
            </a:r>
            <a:endParaRPr lang="en-US" sz="3200" b="1" dirty="0">
              <a:latin typeface="Bahij Nazanin" panose="02040503050201020203" pitchFamily="18" charset="-78"/>
              <a:cs typeface="Bahij Nazanin" panose="02040503050201020203" pitchFamily="18" charset="-78"/>
            </a:endParaRPr>
          </a:p>
          <a:p>
            <a:pPr marL="0" indent="0" algn="justLow">
              <a:buNone/>
            </a:pPr>
            <a:r>
              <a:rPr lang="ar-SA" sz="3200" b="1" dirty="0">
                <a:latin typeface="Bahij Nazanin" panose="02040503050201020203" pitchFamily="18" charset="-78"/>
                <a:cs typeface="Bahij Nazanin" panose="02040503050201020203" pitchFamily="18" charset="-78"/>
              </a:rPr>
              <a:t>عباس و فضل و قثم پیکر پیامبر </a:t>
            </a:r>
            <a:r>
              <a:rPr lang="en-US" sz="3200" b="1" dirty="0">
                <a:latin typeface="Bahij Nazanin" panose="02040503050201020203" pitchFamily="18" charset="-78"/>
                <a:cs typeface="Bahij Nazanin" panose="02040503050201020203" pitchFamily="18" charset="-78"/>
                <a:sym typeface="AGA Arabesque" panose="05000000000000000000" pitchFamily="2" charset="2"/>
              </a:rPr>
              <a:t></a:t>
            </a:r>
            <a:r>
              <a:rPr lang="ar-SA" sz="3200" b="1" dirty="0">
                <a:latin typeface="Bahij Nazanin" panose="02040503050201020203" pitchFamily="18" charset="-78"/>
                <a:cs typeface="Bahij Nazanin" panose="02040503050201020203" pitchFamily="18" charset="-78"/>
              </a:rPr>
              <a:t> را پهلو به پهلو می گرداندند و اسامه و شقران آب می ریختند و علی او را غسل می داد.</a:t>
            </a:r>
            <a:endParaRPr lang="en-US" sz="3200" b="1" dirty="0">
              <a:latin typeface="Bahij Nazanin" panose="02040503050201020203" pitchFamily="18" charset="-78"/>
              <a:cs typeface="Bahij Nazanin" panose="02040503050201020203" pitchFamily="18" charset="-78"/>
            </a:endParaRPr>
          </a:p>
          <a:p>
            <a:pPr marL="0" indent="0" algn="justLow">
              <a:buNone/>
            </a:pPr>
            <a:r>
              <a:rPr lang="ar-SA" sz="3200" b="1" dirty="0">
                <a:latin typeface="Bahij Nazanin" panose="02040503050201020203" pitchFamily="18" charset="-78"/>
                <a:cs typeface="Bahij Nazanin" panose="02040503050201020203" pitchFamily="18" charset="-78"/>
              </a:rPr>
              <a:t>پیکر پیامبر </a:t>
            </a:r>
            <a:r>
              <a:rPr lang="en-US" sz="3200" b="1" dirty="0">
                <a:latin typeface="Bahij Nazanin" panose="02040503050201020203" pitchFamily="18" charset="-78"/>
                <a:cs typeface="Bahij Nazanin" panose="02040503050201020203" pitchFamily="18" charset="-78"/>
                <a:sym typeface="AGA Arabesque" panose="05000000000000000000" pitchFamily="2" charset="2"/>
              </a:rPr>
              <a:t></a:t>
            </a:r>
            <a:r>
              <a:rPr lang="ar-SA" sz="3200" b="1" dirty="0">
                <a:latin typeface="Bahij Nazanin" panose="02040503050201020203" pitchFamily="18" charset="-78"/>
                <a:cs typeface="Bahij Nazanin" panose="02040503050201020203" pitchFamily="18" charset="-78"/>
              </a:rPr>
              <a:t> را سه بار غسل دادند، نخست با آب، سپس با سدر، مرتبه سوم با آب چاهی بنام «غرس» که متعلق به سعد بن خثیمه و در ناحیه قباء بود و از آن آب می نوشیدند.</a:t>
            </a:r>
            <a:endParaRPr lang="en-US" sz="3200" b="1" dirty="0">
              <a:latin typeface="Bahij Nazanin" panose="02040503050201020203" pitchFamily="18" charset="-78"/>
              <a:cs typeface="Bahij Nazanin" panose="02040503050201020203" pitchFamily="18" charset="-78"/>
            </a:endParaRPr>
          </a:p>
          <a:p>
            <a:pPr marL="0" indent="0" algn="justLow">
              <a:buNone/>
            </a:pPr>
            <a:r>
              <a:rPr lang="ar-SA" sz="3200" b="1" dirty="0">
                <a:latin typeface="Bahij Nazanin" panose="02040503050201020203" pitchFamily="18" charset="-78"/>
                <a:cs typeface="Bahij Nazanin" panose="02040503050201020203" pitchFamily="18" charset="-78"/>
              </a:rPr>
              <a:t>سپس پیامبر </a:t>
            </a:r>
            <a:r>
              <a:rPr lang="en-US" sz="3200" b="1" dirty="0">
                <a:latin typeface="Bahij Nazanin" panose="02040503050201020203" pitchFamily="18" charset="-78"/>
                <a:cs typeface="Bahij Nazanin" panose="02040503050201020203" pitchFamily="18" charset="-78"/>
                <a:sym typeface="AGA Arabesque" panose="05000000000000000000" pitchFamily="2" charset="2"/>
              </a:rPr>
              <a:t></a:t>
            </a:r>
            <a:r>
              <a:rPr lang="ar-SA" sz="3200" b="1" dirty="0">
                <a:latin typeface="Bahij Nazanin" panose="02040503050201020203" pitchFamily="18" charset="-78"/>
                <a:cs typeface="Bahij Nazanin" panose="02040503050201020203" pitchFamily="18" charset="-78"/>
              </a:rPr>
              <a:t> را در سه پارچه سفید سحولی، از جنس پنبه کفن کردند و پیراهن و عمامه، جزو کفن رسول اکرم </a:t>
            </a:r>
            <a:r>
              <a:rPr lang="en-US" sz="3200" b="1" dirty="0">
                <a:latin typeface="Bahij Nazanin" panose="02040503050201020203" pitchFamily="18" charset="-78"/>
                <a:cs typeface="Bahij Nazanin" panose="02040503050201020203" pitchFamily="18" charset="-78"/>
                <a:sym typeface="AGA Arabesque" panose="05000000000000000000" pitchFamily="2" charset="2"/>
              </a:rPr>
              <a:t></a:t>
            </a:r>
            <a:r>
              <a:rPr lang="ar-SA" sz="3200" b="1" dirty="0">
                <a:latin typeface="Bahij Nazanin" panose="02040503050201020203" pitchFamily="18" charset="-78"/>
                <a:cs typeface="Bahij Nazanin" panose="02040503050201020203" pitchFamily="18" charset="-78"/>
              </a:rPr>
              <a:t> نبود.</a:t>
            </a:r>
            <a:r>
              <a:rPr lang="en-US" sz="3200" b="1" dirty="0">
                <a:latin typeface="Bahij Nazanin" panose="02040503050201020203" pitchFamily="18" charset="-78"/>
                <a:cs typeface="Bahij Nazanin" panose="02040503050201020203" pitchFamily="18" charset="-78"/>
              </a:rPr>
              <a:t> </a:t>
            </a:r>
          </a:p>
        </p:txBody>
      </p:sp>
    </p:spTree>
    <p:extLst>
      <p:ext uri="{BB962C8B-B14F-4D97-AF65-F5344CB8AC3E}">
        <p14:creationId xmlns:p14="http://schemas.microsoft.com/office/powerpoint/2010/main" val="3915323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s-AF" dirty="0">
                <a:latin typeface="Arial" panose="020B0604020202020204" pitchFamily="34" charset="0"/>
                <a:cs typeface="Arial" panose="020B0604020202020204" pitchFamily="34" charset="0"/>
              </a:rPr>
              <a:t>شمائل رسول الله عليه السلام</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Autofit/>
          </a:bodyPr>
          <a:lstStyle/>
          <a:p>
            <a:pPr algn="justLow">
              <a:lnSpc>
                <a:spcPct val="100000"/>
              </a:lnSpc>
            </a:pPr>
            <a:r>
              <a:rPr lang="ar-SA" sz="3200" b="1" dirty="0">
                <a:latin typeface="Bahij Nazanin" panose="02040503050201020203" pitchFamily="18" charset="-78"/>
                <a:cs typeface="Bahij Nazanin" panose="02040503050201020203" pitchFamily="18" charset="-78"/>
              </a:rPr>
              <a:t>براء بن عازب رضی الله عنه می‌گوید: خلقت و چهره نبی اکرم صلی الله علیه وسلم از همه مردم زیباتر بود، نه بسیار بلند و نه بسیار کوتاه بود. </a:t>
            </a:r>
            <a:endParaRPr lang="ps-AF" sz="3200" b="1" dirty="0">
              <a:latin typeface="Bahij Nazanin" panose="02040503050201020203" pitchFamily="18" charset="-78"/>
              <a:cs typeface="Bahij Nazanin" panose="02040503050201020203" pitchFamily="18" charset="-78"/>
            </a:endParaRPr>
          </a:p>
          <a:p>
            <a:pPr algn="justLow">
              <a:lnSpc>
                <a:spcPct val="100000"/>
              </a:lnSpc>
            </a:pPr>
            <a:r>
              <a:rPr lang="ar-SA" sz="3200" b="1" dirty="0">
                <a:latin typeface="Bahij Nazanin" panose="02040503050201020203" pitchFamily="18" charset="-78"/>
                <a:cs typeface="Bahij Nazanin" panose="02040503050201020203" pitchFamily="18" charset="-78"/>
              </a:rPr>
              <a:t>و در روایت دیگر می‌فرماید: نبی اکرم صلی الله علیه وسلم فردی چهارشانه بود، شانه‌هایش از یکدیگر فاصله داشتند. موهایش تا نرمه گوش‌هایش می‌رسید؛ او را در حله‌ای قرمز رنگ دیدم و هرگز کسی زیباتر از او ندیدم». </a:t>
            </a:r>
            <a:endParaRPr lang="ps-AF" sz="3200" b="1" dirty="0">
              <a:latin typeface="Bahij Nazanin" panose="02040503050201020203" pitchFamily="18" charset="-78"/>
              <a:cs typeface="Bahij Nazanin" panose="02040503050201020203" pitchFamily="18" charset="-78"/>
            </a:endParaRPr>
          </a:p>
          <a:p>
            <a:pPr algn="justLow">
              <a:lnSpc>
                <a:spcPct val="100000"/>
              </a:lnSpc>
            </a:pPr>
            <a:r>
              <a:rPr lang="ar-SA" sz="3200" b="1" dirty="0">
                <a:latin typeface="Bahij Nazanin" panose="02040503050201020203" pitchFamily="18" charset="-78"/>
                <a:cs typeface="Bahij Nazanin" panose="02040503050201020203" pitchFamily="18" charset="-78"/>
              </a:rPr>
              <a:t>از براء بن عازب رضی الله عنه پرسید</a:t>
            </a:r>
            <a:r>
              <a:rPr lang="ps-AF" sz="3200" b="1" dirty="0">
                <a:latin typeface="Bahij Nazanin" panose="02040503050201020203" pitchFamily="18" charset="-78"/>
                <a:cs typeface="Bahij Nazanin" panose="02040503050201020203" pitchFamily="18" charset="-78"/>
              </a:rPr>
              <a:t>ه شد</a:t>
            </a:r>
            <a:r>
              <a:rPr lang="ar-SA" sz="3200" b="1" dirty="0">
                <a:latin typeface="Bahij Nazanin" panose="02040503050201020203" pitchFamily="18" charset="-78"/>
                <a:cs typeface="Bahij Nazanin" panose="02040503050201020203" pitchFamily="18" charset="-78"/>
              </a:rPr>
              <a:t>: آیا چهره رسول الله صلی الله علیه وسلم مانند شمشیر بود؟‌ گفت: نه، بلکه ماننده ماه بود.</a:t>
            </a:r>
          </a:p>
        </p:txBody>
      </p:sp>
    </p:spTree>
    <p:extLst>
      <p:ext uri="{BB962C8B-B14F-4D97-AF65-F5344CB8AC3E}">
        <p14:creationId xmlns:p14="http://schemas.microsoft.com/office/powerpoint/2010/main" val="1948627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s-AF" sz="3600" b="0" dirty="0">
                <a:latin typeface="Arial" panose="020B0604020202020204" pitchFamily="34" charset="0"/>
                <a:cs typeface="Arial" panose="020B0604020202020204" pitchFamily="34" charset="0"/>
              </a:rPr>
              <a:t>ادامه...</a:t>
            </a:r>
            <a:r>
              <a:rPr lang="ps-AF" dirty="0">
                <a:latin typeface="Arial" panose="020B0604020202020204" pitchFamily="34" charset="0"/>
                <a:cs typeface="Arial" panose="020B0604020202020204" pitchFamily="34" charset="0"/>
              </a:rPr>
              <a:t> شمائل رسول الله عليه السلام</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algn="justLow">
              <a:lnSpc>
                <a:spcPct val="100000"/>
              </a:lnSpc>
            </a:pPr>
            <a:r>
              <a:rPr lang="ar-SA" sz="3200" b="1" dirty="0">
                <a:latin typeface="Bahij Nazanin" panose="02040503050201020203" pitchFamily="18" charset="-78"/>
                <a:cs typeface="Bahij Nazanin" panose="02040503050201020203" pitchFamily="18" charset="-78"/>
              </a:rPr>
              <a:t>انس رضی الله عنه می‌گوید: هیچگونه دیبا و ابریشمی و هیچ چیز دیگری، نرمتر از کف دست رسول الله صلی الله علیه وسلم لمس نکرده ام و همچنین هیچ بویی خوشبوتر از بوی رسول خدا صلی الله علیه وسلم به مشامم نرسیده است.  </a:t>
            </a:r>
            <a:endParaRPr lang="ps-AF" sz="3200" b="1" dirty="0">
              <a:latin typeface="Bahij Nazanin" panose="02040503050201020203" pitchFamily="18" charset="-78"/>
              <a:cs typeface="Bahij Nazanin" panose="02040503050201020203" pitchFamily="18" charset="-78"/>
            </a:endParaRPr>
          </a:p>
          <a:p>
            <a:pPr algn="justLow">
              <a:lnSpc>
                <a:spcPct val="100000"/>
              </a:lnSpc>
            </a:pPr>
            <a:r>
              <a:rPr lang="ar-SA" sz="3200" b="1" dirty="0">
                <a:latin typeface="Bahij Nazanin" panose="02040503050201020203" pitchFamily="18" charset="-78"/>
                <a:cs typeface="Bahij Nazanin" panose="02040503050201020203" pitchFamily="18" charset="-78"/>
              </a:rPr>
              <a:t>یکی از ویژگی‌های آن‌حضرت صلی الله علیه وسلم ، شرم و آزرم بود، تا جایی که ابوسعید خدری رضی الله عنه می‌گوید: پیامبر اکرم صلی الله علیه وسلم از دوشیزگان زیر چادر، شرم و حیای بیشتری داشت و هرگاه چیزی را می‌دید که مورد پسندش واقع نمی‌شد، ما، آن را از چهره‌اش می‌فهمیدیم. </a:t>
            </a:r>
          </a:p>
        </p:txBody>
      </p:sp>
    </p:spTree>
    <p:extLst>
      <p:ext uri="{BB962C8B-B14F-4D97-AF65-F5344CB8AC3E}">
        <p14:creationId xmlns:p14="http://schemas.microsoft.com/office/powerpoint/2010/main" val="1603272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6654" y="2017028"/>
            <a:ext cx="9968061" cy="2207240"/>
          </a:xfrm>
        </p:spPr>
        <p:txBody>
          <a:bodyPr>
            <a:normAutofit/>
          </a:bodyPr>
          <a:lstStyle/>
          <a:p>
            <a:pPr algn="ctr">
              <a:lnSpc>
                <a:spcPct val="150000"/>
              </a:lnSpc>
            </a:pPr>
            <a:r>
              <a:rPr lang="ps-AF" dirty="0">
                <a:latin typeface="Arial" panose="020B0604020202020204" pitchFamily="34" charset="0"/>
                <a:cs typeface="Arial" panose="020B0604020202020204" pitchFamily="34" charset="0"/>
              </a:rPr>
              <a:t>درس و عبرت</a:t>
            </a:r>
            <a:br>
              <a:rPr lang="ps-AF" dirty="0">
                <a:latin typeface="Arial" panose="020B0604020202020204" pitchFamily="34" charset="0"/>
                <a:cs typeface="Arial" panose="020B0604020202020204" pitchFamily="34" charset="0"/>
              </a:rPr>
            </a:br>
            <a:r>
              <a:rPr lang="ps-AF" dirty="0">
                <a:latin typeface="Arial" panose="020B0604020202020204" pitchFamily="34" charset="0"/>
                <a:cs typeface="Arial" panose="020B0604020202020204" pitchFamily="34" charset="0"/>
              </a:rPr>
              <a:t>تبصره در رابطه به درس</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27933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s-AF" dirty="0">
                <a:latin typeface="Arial" panose="020B0604020202020204" pitchFamily="34" charset="0"/>
                <a:cs typeface="Arial" panose="020B0604020202020204" pitchFamily="34" charset="0"/>
              </a:rPr>
              <a:t>منابع مضمون</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ps-AF" dirty="0">
                <a:latin typeface="Adobe Arabic new" panose="02040703060201020203" pitchFamily="18" charset="-78"/>
                <a:cs typeface="Adobe Arabic new" panose="02040703060201020203" pitchFamily="18" charset="-78"/>
              </a:rPr>
              <a:t>۱. </a:t>
            </a:r>
            <a:r>
              <a:rPr lang="ar-SA" dirty="0">
                <a:latin typeface="Adobe Arabic new" panose="02040703060201020203" pitchFamily="18" charset="-78"/>
                <a:cs typeface="Adobe Arabic new" panose="02040703060201020203" pitchFamily="18" charset="-78"/>
              </a:rPr>
              <a:t>سیرة ابن هشام، لابن هشام.</a:t>
            </a:r>
          </a:p>
          <a:p>
            <a:r>
              <a:rPr lang="ar-SA" dirty="0">
                <a:latin typeface="Adobe Arabic new" panose="02040703060201020203" pitchFamily="18" charset="-78"/>
                <a:cs typeface="Adobe Arabic new" panose="02040703060201020203" pitchFamily="18" charset="-78"/>
              </a:rPr>
              <a:t>2. السیرة النبویة، للشیخ ابو الحسن الندوي.</a:t>
            </a:r>
          </a:p>
          <a:p>
            <a:r>
              <a:rPr lang="ar-SA" dirty="0">
                <a:latin typeface="Adobe Arabic new" panose="02040703060201020203" pitchFamily="18" charset="-78"/>
                <a:cs typeface="Adobe Arabic new" panose="02040703060201020203" pitchFamily="18" charset="-78"/>
              </a:rPr>
              <a:t>3. السیرة النبوية، دروس وعبر، شیخ مصطفی السباعي.</a:t>
            </a:r>
          </a:p>
          <a:p>
            <a:r>
              <a:rPr lang="ar-SA" dirty="0">
                <a:latin typeface="Adobe Arabic new" panose="02040703060201020203" pitchFamily="18" charset="-78"/>
                <a:cs typeface="Adobe Arabic new" panose="02040703060201020203" pitchFamily="18" charset="-78"/>
              </a:rPr>
              <a:t>4. السیرة النبوية، عرض وقائع وتحلیل أحداث، شيخ علي محمد الصلابي.</a:t>
            </a:r>
          </a:p>
          <a:p>
            <a:r>
              <a:rPr lang="ar-SA" dirty="0">
                <a:latin typeface="Adobe Arabic new" panose="02040703060201020203" pitchFamily="18" charset="-78"/>
                <a:cs typeface="Adobe Arabic new" panose="02040703060201020203" pitchFamily="18" charset="-78"/>
              </a:rPr>
              <a:t>5. فقه السيرة، شيخ رمضان البوطي.</a:t>
            </a:r>
          </a:p>
          <a:p>
            <a:r>
              <a:rPr lang="ar-SA" dirty="0">
                <a:latin typeface="Adobe Arabic new" panose="02040703060201020203" pitchFamily="18" charset="-78"/>
                <a:cs typeface="Adobe Arabic new" panose="02040703060201020203" pitchFamily="18" charset="-78"/>
              </a:rPr>
              <a:t>6. تاريخ الخلفاء للإمام السيوطي.</a:t>
            </a:r>
          </a:p>
          <a:p>
            <a:r>
              <a:rPr lang="ar-SA" dirty="0">
                <a:latin typeface="Adobe Arabic new" panose="02040703060201020203" pitchFamily="18" charset="-78"/>
                <a:cs typeface="Adobe Arabic new" panose="02040703060201020203" pitchFamily="18" charset="-78"/>
              </a:rPr>
              <a:t>7. التاریخ ا لإسلامي لإبراهيم </a:t>
            </a:r>
            <a:r>
              <a:rPr lang="ps-AF" dirty="0">
                <a:latin typeface="Adobe Arabic new" panose="02040703060201020203" pitchFamily="18" charset="-78"/>
                <a:cs typeface="Adobe Arabic new" panose="02040703060201020203" pitchFamily="18" charset="-78"/>
              </a:rPr>
              <a:t>الشريقي</a:t>
            </a:r>
            <a:r>
              <a:rPr lang="ar-SA" dirty="0">
                <a:latin typeface="Adobe Arabic new" panose="02040703060201020203" pitchFamily="18" charset="-78"/>
                <a:cs typeface="Adobe Arabic new" panose="02040703060201020203" pitchFamily="18" charset="-78"/>
              </a:rPr>
              <a:t>.</a:t>
            </a:r>
          </a:p>
          <a:p>
            <a:r>
              <a:rPr lang="ar-SA" dirty="0">
                <a:latin typeface="Adobe Arabic new" panose="02040703060201020203" pitchFamily="18" charset="-78"/>
                <a:cs typeface="Adobe Arabic new" panose="02040703060201020203" pitchFamily="18" charset="-78"/>
              </a:rPr>
              <a:t>8. کتب التاریخ ا لإسلامي، للشیخ علی محمد الصلابي .</a:t>
            </a:r>
            <a:endParaRPr lang="en-US" dirty="0">
              <a:latin typeface="Adobe Arabic new" panose="02040703060201020203" pitchFamily="18" charset="-78"/>
              <a:cs typeface="Adobe Arabic new" panose="02040703060201020203" pitchFamily="18" charset="-78"/>
            </a:endParaRPr>
          </a:p>
        </p:txBody>
      </p:sp>
    </p:spTree>
    <p:extLst>
      <p:ext uri="{BB962C8B-B14F-4D97-AF65-F5344CB8AC3E}">
        <p14:creationId xmlns:p14="http://schemas.microsoft.com/office/powerpoint/2010/main" val="2046360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955191" y="3186838"/>
            <a:ext cx="9976514" cy="915605"/>
          </a:xfrm>
        </p:spPr>
        <p:txBody>
          <a:bodyPr>
            <a:noAutofit/>
          </a:bodyPr>
          <a:lstStyle/>
          <a:p>
            <a:pPr>
              <a:lnSpc>
                <a:spcPct val="150000"/>
              </a:lnSpc>
            </a:pPr>
            <a:r>
              <a:rPr lang="fa-IR" sz="5400" dirty="0">
                <a:latin typeface="Adobe Arabic" panose="02040503050201020203" pitchFamily="18" charset="-78"/>
                <a:ea typeface="Cambria" panose="02040503050406030204" pitchFamily="18" charset="0"/>
                <a:cs typeface="Adobe Arabic" panose="02040503050201020203" pitchFamily="18" charset="-78"/>
              </a:rPr>
              <a:t>تشکر</a:t>
            </a:r>
            <a:endParaRPr lang="en-US" sz="5400" dirty="0">
              <a:latin typeface="Adobe Arabic" panose="02040503050201020203" pitchFamily="18" charset="-78"/>
              <a:ea typeface="Cambria" panose="02040503050406030204" pitchFamily="18" charset="0"/>
              <a:cs typeface="Adobe Arabic" panose="02040503050201020203" pitchFamily="18" charset="-78"/>
            </a:endParaRPr>
          </a:p>
        </p:txBody>
      </p:sp>
    </p:spTree>
    <p:extLst>
      <p:ext uri="{BB962C8B-B14F-4D97-AF65-F5344CB8AC3E}">
        <p14:creationId xmlns:p14="http://schemas.microsoft.com/office/powerpoint/2010/main" val="2259081850"/>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Slice</Template>
  <TotalTime>18100</TotalTime>
  <Words>1167</Words>
  <Application>Microsoft Office PowerPoint</Application>
  <PresentationFormat>Widescreen</PresentationFormat>
  <Paragraphs>59</Paragraphs>
  <Slides>14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Adobe Arabic</vt:lpstr>
      <vt:lpstr>Adobe Arabic new</vt:lpstr>
      <vt:lpstr>AGA Arabesque</vt:lpstr>
      <vt:lpstr>Arial</vt:lpstr>
      <vt:lpstr>B Zar</vt:lpstr>
      <vt:lpstr>Bahij Nazanin</vt:lpstr>
      <vt:lpstr>Calibri</vt:lpstr>
      <vt:lpstr>Calibri Light</vt:lpstr>
      <vt:lpstr>Cambria</vt:lpstr>
      <vt:lpstr>Office Theme</vt:lpstr>
      <vt:lpstr>سيرت نبي عليه السلام</vt:lpstr>
      <vt:lpstr>فهرست</vt:lpstr>
      <vt:lpstr>مرور مختصر به درس گذشته</vt:lpstr>
      <vt:lpstr>نتايج متوقع از درس</vt:lpstr>
      <vt:lpstr>حجة الوداع</vt:lpstr>
      <vt:lpstr>آغاز مریضی</vt:lpstr>
      <vt:lpstr>آخرین روز زندگی پیامبر </vt:lpstr>
      <vt:lpstr>وفات رسول اکرم </vt:lpstr>
      <vt:lpstr>خاکسپاری پیکر رسول اکرم </vt:lpstr>
      <vt:lpstr>شمائل رسول الله عليه السلام</vt:lpstr>
      <vt:lpstr>ادامه... شمائل رسول الله عليه السلام</vt:lpstr>
      <vt:lpstr>درس و عبرت تبصره در رابطه به درس</vt:lpstr>
      <vt:lpstr>منابع مضمون</vt:lpstr>
      <vt:lpstr>تشکر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CV &amp; Cover Letter  Work Shop</dc:title>
  <dc:creator>Ahmad Bashir</dc:creator>
  <cp:lastModifiedBy>تصحیح کننده :</cp:lastModifiedBy>
  <cp:revision>514</cp:revision>
  <cp:lastPrinted>2018-09-30T05:57:36Z</cp:lastPrinted>
  <dcterms:created xsi:type="dcterms:W3CDTF">2016-12-29T08:37:18Z</dcterms:created>
  <dcterms:modified xsi:type="dcterms:W3CDTF">2025-05-29T09:20:55Z</dcterms:modified>
</cp:coreProperties>
</file>