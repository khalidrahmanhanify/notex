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8" r:id="rId2"/>
    <p:sldId id="284" r:id="rId3"/>
    <p:sldId id="283" r:id="rId4"/>
    <p:sldId id="281" r:id="rId5"/>
    <p:sldId id="311" r:id="rId6"/>
    <p:sldId id="312" r:id="rId7"/>
    <p:sldId id="316" r:id="rId8"/>
    <p:sldId id="317" r:id="rId9"/>
    <p:sldId id="309" r:id="rId10"/>
    <p:sldId id="267" r:id="rId11"/>
    <p:sldId id="260" r:id="rId12"/>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A21F"/>
    <a:srgbClr val="04A4DC"/>
    <a:srgbClr val="0A4F9E"/>
    <a:srgbClr val="F05A2A"/>
    <a:srgbClr val="7CBBE6"/>
    <a:srgbClr val="306EB4"/>
    <a:srgbClr val="FDAA03"/>
    <a:srgbClr val="3399FF"/>
    <a:srgbClr val="4B9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3" autoAdjust="0"/>
    <p:restoredTop sz="94660"/>
  </p:normalViewPr>
  <p:slideViewPr>
    <p:cSldViewPr snapToGrid="0">
      <p:cViewPr varScale="1">
        <p:scale>
          <a:sx n="68" d="100"/>
          <a:sy n="68" d="100"/>
        </p:scale>
        <p:origin x="424" y="48"/>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en-US"/>
          </a:p>
        </p:txBody>
      </p:sp>
      <p:sp>
        <p:nvSpPr>
          <p:cNvPr id="3" name="Date Placeholder 2"/>
          <p:cNvSpPr>
            <a:spLocks noGrp="1"/>
          </p:cNvSpPr>
          <p:nvPr>
            <p:ph type="dt" idx="1"/>
          </p:nvPr>
        </p:nvSpPr>
        <p:spPr>
          <a:xfrm>
            <a:off x="3901698" y="0"/>
            <a:ext cx="2984871" cy="501015"/>
          </a:xfrm>
          <a:prstGeom prst="rect">
            <a:avLst/>
          </a:prstGeom>
        </p:spPr>
        <p:txBody>
          <a:bodyPr vert="horz" lIns="96616" tIns="48308" rIns="96616" bIns="48308" rtlCol="0"/>
          <a:lstStyle>
            <a:lvl1pPr algn="r">
              <a:defRPr sz="1300"/>
            </a:lvl1pPr>
          </a:lstStyle>
          <a:p>
            <a:fld id="{CC64C3A3-36D1-4B54-82BE-C1BE53106136}" type="datetimeFigureOut">
              <a:rPr lang="en-US" smtClean="0"/>
              <a:t>5/29/2025</a:t>
            </a:fld>
            <a:endParaRPr lang="en-US"/>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6616" tIns="48308" rIns="96616" bIns="48308" rtlCol="0" anchor="ctr"/>
          <a:lstStyle/>
          <a:p>
            <a:endParaRPr lang="en-US"/>
          </a:p>
        </p:txBody>
      </p:sp>
      <p:sp>
        <p:nvSpPr>
          <p:cNvPr id="5" name="Notes Placeholder 4"/>
          <p:cNvSpPr>
            <a:spLocks noGrp="1"/>
          </p:cNvSpPr>
          <p:nvPr>
            <p:ph type="body" sz="quarter" idx="3"/>
          </p:nvPr>
        </p:nvSpPr>
        <p:spPr>
          <a:xfrm>
            <a:off x="688817" y="4759643"/>
            <a:ext cx="5510530" cy="4509135"/>
          </a:xfrm>
          <a:prstGeom prst="rect">
            <a:avLst/>
          </a:prstGeom>
        </p:spPr>
        <p:txBody>
          <a:bodyPr vert="horz" lIns="96616" tIns="48308" rIns="96616" bIns="4830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7546"/>
            <a:ext cx="2984871" cy="501015"/>
          </a:xfrm>
          <a:prstGeom prst="rect">
            <a:avLst/>
          </a:prstGeom>
        </p:spPr>
        <p:txBody>
          <a:bodyPr vert="horz" lIns="96616" tIns="48308" rIns="96616" bIns="48308" rtlCol="0" anchor="b"/>
          <a:lstStyle>
            <a:lvl1pPr algn="l">
              <a:defRPr sz="1300"/>
            </a:lvl1pPr>
          </a:lstStyle>
          <a:p>
            <a:endParaRPr lang="en-US"/>
          </a:p>
        </p:txBody>
      </p:sp>
      <p:sp>
        <p:nvSpPr>
          <p:cNvPr id="7" name="Slide Number Placeholder 6"/>
          <p:cNvSpPr>
            <a:spLocks noGrp="1"/>
          </p:cNvSpPr>
          <p:nvPr>
            <p:ph type="sldNum" sz="quarter" idx="5"/>
          </p:nvPr>
        </p:nvSpPr>
        <p:spPr>
          <a:xfrm>
            <a:off x="3901698" y="9517546"/>
            <a:ext cx="2984871" cy="501015"/>
          </a:xfrm>
          <a:prstGeom prst="rect">
            <a:avLst/>
          </a:prstGeom>
        </p:spPr>
        <p:txBody>
          <a:bodyPr vert="horz" lIns="96616" tIns="48308" rIns="96616" bIns="48308" rtlCol="0" anchor="b"/>
          <a:lstStyle>
            <a:lvl1pPr algn="r">
              <a:defRPr sz="1300"/>
            </a:lvl1pPr>
          </a:lstStyle>
          <a:p>
            <a:fld id="{561E02F8-2C60-4E6D-9748-CA6CEC34A947}" type="slidenum">
              <a:rPr lang="en-US" smtClean="0"/>
              <a:t>‹#›</a:t>
            </a:fld>
            <a:endParaRPr lang="en-US"/>
          </a:p>
        </p:txBody>
      </p:sp>
    </p:spTree>
    <p:extLst>
      <p:ext uri="{BB962C8B-B14F-4D97-AF65-F5344CB8AC3E}">
        <p14:creationId xmlns:p14="http://schemas.microsoft.com/office/powerpoint/2010/main" val="2986641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A4F9E"/>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9036" y="2729552"/>
            <a:ext cx="9144000" cy="889593"/>
          </a:xfrm>
        </p:spPr>
        <p:txBody>
          <a:bodyPr anchor="b">
            <a:normAutofit/>
          </a:bodyPr>
          <a:lstStyle>
            <a:lvl1pPr algn="ctr" defTabSz="914400" rtl="0" eaLnBrk="1" latinLnBrk="0" hangingPunct="1">
              <a:spcBef>
                <a:spcPct val="0"/>
              </a:spcBef>
              <a:buNone/>
              <a:defRPr lang="en-US" sz="4400" b="1" kern="1200" baseline="0" dirty="0">
                <a:solidFill>
                  <a:schemeClr val="bg1"/>
                </a:solidFill>
                <a:latin typeface="+mn-lt"/>
                <a:ea typeface="+mj-ea"/>
                <a:cs typeface="B Zar"/>
              </a:defRPr>
            </a:lvl1pPr>
          </a:lstStyle>
          <a:p>
            <a:r>
              <a:rPr lang="prs-AF" dirty="0"/>
              <a:t>عنوان اصلی تقریر</a:t>
            </a:r>
            <a:endParaRPr lang="en-US" dirty="0"/>
          </a:p>
        </p:txBody>
      </p:sp>
      <p:sp>
        <p:nvSpPr>
          <p:cNvPr id="3" name="Subtitle 2"/>
          <p:cNvSpPr>
            <a:spLocks noGrp="1"/>
          </p:cNvSpPr>
          <p:nvPr>
            <p:ph type="subTitle" idx="1" hasCustomPrompt="1"/>
          </p:nvPr>
        </p:nvSpPr>
        <p:spPr>
          <a:xfrm>
            <a:off x="1519036" y="3780431"/>
            <a:ext cx="9144000" cy="1354540"/>
          </a:xfrm>
        </p:spPr>
        <p:txBody>
          <a:bodyPr>
            <a:normAutofit/>
          </a:bodyPr>
          <a:lstStyle>
            <a:lvl1pPr marL="0" indent="0" algn="ctr">
              <a:buNone/>
              <a:defRPr sz="2800" baseline="0">
                <a:solidFill>
                  <a:schemeClr val="bg1"/>
                </a:solidFill>
                <a:cs typeface="B Zar"/>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rs-AF" dirty="0"/>
              <a:t>عنوان فرعی تقریر</a:t>
            </a:r>
            <a:endParaRPr lang="en-US" dirty="0"/>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89021" y="440948"/>
            <a:ext cx="1713676" cy="1713676"/>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467" y="1024069"/>
            <a:ext cx="12208467" cy="6867263"/>
          </a:xfrm>
          <a:prstGeom prst="rect">
            <a:avLst/>
          </a:prstGeom>
        </p:spPr>
      </p:pic>
    </p:spTree>
    <p:extLst>
      <p:ext uri="{BB962C8B-B14F-4D97-AF65-F5344CB8AC3E}">
        <p14:creationId xmlns:p14="http://schemas.microsoft.com/office/powerpoint/2010/main" val="2681539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47567" y="445807"/>
            <a:ext cx="9968061" cy="952687"/>
          </a:xfrm>
        </p:spPr>
        <p:txBody>
          <a:bodyPr>
            <a:normAutofit/>
          </a:bodyPr>
          <a:lstStyle>
            <a:lvl1pPr algn="r" rtl="1">
              <a:defRPr lang="en-US" sz="4400" b="1" kern="1200" dirty="0">
                <a:solidFill>
                  <a:schemeClr val="accent1">
                    <a:lumMod val="50000"/>
                  </a:schemeClr>
                </a:solidFill>
                <a:latin typeface="Adobe Arabic" pitchFamily="18" charset="-78"/>
                <a:ea typeface="B Zar"/>
                <a:cs typeface="B Zar"/>
              </a:defRPr>
            </a:lvl1pPr>
          </a:lstStyle>
          <a:p>
            <a:r>
              <a:rPr lang="prs-AF" dirty="0"/>
              <a:t>عنوان اصلی</a:t>
            </a:r>
            <a:endParaRPr lang="en-US" dirty="0"/>
          </a:p>
        </p:txBody>
      </p:sp>
      <p:sp>
        <p:nvSpPr>
          <p:cNvPr id="3" name="Content Placeholder 2"/>
          <p:cNvSpPr>
            <a:spLocks noGrp="1"/>
          </p:cNvSpPr>
          <p:nvPr>
            <p:ph idx="1" hasCustomPrompt="1"/>
          </p:nvPr>
        </p:nvSpPr>
        <p:spPr>
          <a:xfrm>
            <a:off x="518616" y="1555845"/>
            <a:ext cx="11080259" cy="4517409"/>
          </a:xfrm>
        </p:spPr>
        <p:txBody>
          <a:bodyPr/>
          <a:lstStyle>
            <a:lvl1pPr algn="r" rtl="1">
              <a:defRPr sz="2800"/>
            </a:lvl1pPr>
            <a:lvl2pPr algn="r" rtl="1">
              <a:defRPr/>
            </a:lvl2pPr>
            <a:lvl3pPr algn="r" rtl="1">
              <a:defRPr baseline="0"/>
            </a:lvl3pPr>
            <a:lvl4pPr algn="r" rtl="1">
              <a:defRPr/>
            </a:lvl4pPr>
            <a:lvl5pPr algn="r" rtl="1">
              <a:defRPr baseline="0"/>
            </a:lvl5pPr>
          </a:lstStyle>
          <a:p>
            <a:pPr lvl="0"/>
            <a:r>
              <a:rPr lang="prs-AF" dirty="0"/>
              <a:t>متن اصلی</a:t>
            </a:r>
            <a:endParaRPr lang="en-US" dirty="0"/>
          </a:p>
          <a:p>
            <a:pPr lvl="1"/>
            <a:r>
              <a:rPr lang="prs-AF" dirty="0"/>
              <a:t>متن فرعی دوم</a:t>
            </a:r>
            <a:endParaRPr lang="en-US" dirty="0"/>
          </a:p>
          <a:p>
            <a:pPr lvl="2"/>
            <a:r>
              <a:rPr lang="prs-AF" dirty="0"/>
              <a:t>متن فرعی سوم</a:t>
            </a:r>
            <a:endParaRPr lang="en-US" dirty="0"/>
          </a:p>
          <a:p>
            <a:pPr lvl="3"/>
            <a:r>
              <a:rPr lang="prs-AF" dirty="0"/>
              <a:t>متن فرعی چهارم</a:t>
            </a:r>
            <a:endParaRPr lang="en-US" dirty="0"/>
          </a:p>
          <a:p>
            <a:pPr lvl="4"/>
            <a:r>
              <a:rPr lang="prs-AF" dirty="0"/>
              <a:t>متن فرعی پنجم</a:t>
            </a:r>
            <a:endParaRPr lang="en-US" dirty="0"/>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13894" y="6008432"/>
            <a:ext cx="5784981" cy="849568"/>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8616" y="329016"/>
            <a:ext cx="1065215" cy="106521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004186"/>
            <a:ext cx="5813894" cy="853814"/>
          </a:xfrm>
          <a:prstGeom prst="rect">
            <a:avLst/>
          </a:prstGeom>
        </p:spPr>
      </p:pic>
    </p:spTree>
    <p:extLst>
      <p:ext uri="{BB962C8B-B14F-4D97-AF65-F5344CB8AC3E}">
        <p14:creationId xmlns:p14="http://schemas.microsoft.com/office/powerpoint/2010/main" val="1422515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899929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2474269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4052368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3026581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772611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152107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1626859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3124514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229514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100917" y="2752726"/>
            <a:ext cx="8278284" cy="1362075"/>
          </a:xfrm>
        </p:spPr>
        <p:txBody>
          <a:bodyPr anchor="ctr" anchorCtr="0">
            <a:normAutofit/>
          </a:bodyPr>
          <a:lstStyle>
            <a:lvl1pPr algn="r">
              <a:defRPr lang="en-US" sz="4400" b="1" kern="1200" dirty="0">
                <a:solidFill>
                  <a:schemeClr val="tx2">
                    <a:lumMod val="75000"/>
                  </a:schemeClr>
                </a:solidFill>
                <a:latin typeface="+mn-lt"/>
                <a:ea typeface="+mj-ea"/>
                <a:cs typeface="+mj-cs"/>
              </a:defRPr>
            </a:lvl1pPr>
          </a:lstStyle>
          <a:p>
            <a:r>
              <a:rPr lang="en-US" dirty="0"/>
              <a:t>Click to edit Section Header</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11940" y="2743200"/>
            <a:ext cx="1331259" cy="1295400"/>
          </a:xfrm>
          <a:prstGeom prst="rect">
            <a:avLst/>
          </a:prstGeom>
        </p:spPr>
      </p:pic>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b="33046"/>
          <a:stretch/>
        </p:blipFill>
        <p:spPr>
          <a:xfrm>
            <a:off x="0" y="5709899"/>
            <a:ext cx="12223899" cy="1079861"/>
          </a:xfrm>
          <a:prstGeom prst="rect">
            <a:avLst/>
          </a:prstGeom>
        </p:spPr>
      </p:pic>
    </p:spTree>
    <p:extLst>
      <p:ext uri="{BB962C8B-B14F-4D97-AF65-F5344CB8AC3E}">
        <p14:creationId xmlns:p14="http://schemas.microsoft.com/office/powerpoint/2010/main" val="1793488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73865D-5B99-46DD-BB43-58A6B67A8955}" type="datetimeFigureOut">
              <a:rPr lang="en-US" smtClean="0"/>
              <a:t>5/29/2025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B4263-EF47-44FB-8A6A-3F65507A3407}" type="slidenum">
              <a:rPr lang="en-US" smtClean="0"/>
              <a:t>‹#›</a:t>
            </a:fld>
            <a:endParaRPr lang="en-US" dirty="0"/>
          </a:p>
        </p:txBody>
      </p:sp>
    </p:spTree>
    <p:extLst>
      <p:ext uri="{BB962C8B-B14F-4D97-AF65-F5344CB8AC3E}">
        <p14:creationId xmlns:p14="http://schemas.microsoft.com/office/powerpoint/2010/main" val="4006059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17499" y="2837468"/>
            <a:ext cx="11252201" cy="1293877"/>
          </a:xfrm>
        </p:spPr>
        <p:txBody>
          <a:bodyPr>
            <a:noAutofit/>
          </a:bodyPr>
          <a:lstStyle/>
          <a:p>
            <a:pPr>
              <a:lnSpc>
                <a:spcPct val="150000"/>
              </a:lnSpc>
            </a:pPr>
            <a:r>
              <a:rPr lang="ps-AF" sz="7200" dirty="0">
                <a:latin typeface="Bahij Nazanin" panose="02040503050201020203" pitchFamily="18" charset="-78"/>
                <a:ea typeface="Cambria" panose="02040503050406030204" pitchFamily="18" charset="0"/>
                <a:cs typeface="Bahij Nazanin" panose="02040503050201020203" pitchFamily="18" charset="-78"/>
              </a:rPr>
              <a:t>سيرت نبی عليه السلام</a:t>
            </a:r>
            <a:endParaRPr lang="en-US" sz="7200" dirty="0">
              <a:latin typeface="Bahij Nazanin" panose="02040503050201020203" pitchFamily="18" charset="-78"/>
              <a:ea typeface="Cambria" panose="02040503050406030204" pitchFamily="18" charset="0"/>
              <a:cs typeface="Bahij Nazanin" panose="02040503050201020203" pitchFamily="18" charset="-78"/>
            </a:endParaRPr>
          </a:p>
        </p:txBody>
      </p:sp>
      <p:sp>
        <p:nvSpPr>
          <p:cNvPr id="3" name="TextBox 2"/>
          <p:cNvSpPr txBox="1"/>
          <p:nvPr/>
        </p:nvSpPr>
        <p:spPr>
          <a:xfrm>
            <a:off x="669701" y="4612751"/>
            <a:ext cx="11028787" cy="1569660"/>
          </a:xfrm>
          <a:prstGeom prst="rect">
            <a:avLst/>
          </a:prstGeom>
          <a:noFill/>
        </p:spPr>
        <p:txBody>
          <a:bodyPr wrap="square" rtlCol="0">
            <a:spAutoFit/>
          </a:bodyPr>
          <a:lstStyle/>
          <a:p>
            <a:pPr algn="r" rtl="1"/>
            <a:r>
              <a:rPr lang="ps-AF" sz="3200" b="1" dirty="0">
                <a:solidFill>
                  <a:schemeClr val="bg1"/>
                </a:solidFill>
                <a:latin typeface="Adobe Arabic new" panose="02040703060201020203" pitchFamily="18" charset="-78"/>
                <a:cs typeface="Adobe Arabic new" panose="02040703060201020203" pitchFamily="18" charset="-78"/>
              </a:rPr>
              <a:t>سمستر: دوم</a:t>
            </a:r>
          </a:p>
          <a:p>
            <a:pPr algn="r" rtl="1"/>
            <a:r>
              <a:rPr lang="ps-AF" sz="3200" b="1" dirty="0">
                <a:solidFill>
                  <a:schemeClr val="bg1"/>
                </a:solidFill>
                <a:latin typeface="Adobe Arabic new" panose="02040703060201020203" pitchFamily="18" charset="-78"/>
                <a:cs typeface="Adobe Arabic new" panose="02040703060201020203" pitchFamily="18" charset="-78"/>
              </a:rPr>
              <a:t>درس: هفتم</a:t>
            </a:r>
          </a:p>
          <a:p>
            <a:pPr algn="r" rtl="1"/>
            <a:r>
              <a:rPr lang="ps-AF" sz="3200" b="1" dirty="0">
                <a:solidFill>
                  <a:schemeClr val="bg1"/>
                </a:solidFill>
                <a:latin typeface="Adobe Arabic new" panose="02040703060201020203" pitchFamily="18" charset="-78"/>
                <a:cs typeface="Adobe Arabic new" panose="02040703060201020203" pitchFamily="18" charset="-78"/>
              </a:rPr>
              <a:t>استاذ: </a:t>
            </a:r>
            <a:r>
              <a:rPr lang="fa-IR" sz="3200" b="1">
                <a:solidFill>
                  <a:schemeClr val="bg1"/>
                </a:solidFill>
                <a:latin typeface="Adobe Arabic new" panose="02040703060201020203" pitchFamily="18" charset="-78"/>
                <a:cs typeface="Adobe Arabic new" panose="02040703060201020203" pitchFamily="18" charset="-78"/>
              </a:rPr>
              <a:t>اصحاب الدین حلیمی</a:t>
            </a:r>
            <a:endParaRPr lang="ps-AF" sz="3200" b="1" dirty="0">
              <a:solidFill>
                <a:schemeClr val="bg1"/>
              </a:solidFill>
              <a:latin typeface="Adobe Arabic new" panose="02040703060201020203" pitchFamily="18" charset="-78"/>
              <a:cs typeface="Adobe Arabic new" panose="02040703060201020203" pitchFamily="18" charset="-78"/>
            </a:endParaRPr>
          </a:p>
        </p:txBody>
      </p:sp>
    </p:spTree>
    <p:extLst>
      <p:ext uri="{BB962C8B-B14F-4D97-AF65-F5344CB8AC3E}">
        <p14:creationId xmlns:p14="http://schemas.microsoft.com/office/powerpoint/2010/main" val="231194201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s-AF" dirty="0"/>
              <a:t>فهرست</a:t>
            </a:r>
            <a:endParaRPr lang="en-US" dirty="0"/>
          </a:p>
        </p:txBody>
      </p:sp>
      <p:sp>
        <p:nvSpPr>
          <p:cNvPr id="3" name="Content Placeholder 2"/>
          <p:cNvSpPr>
            <a:spLocks noGrp="1"/>
          </p:cNvSpPr>
          <p:nvPr>
            <p:ph idx="1"/>
          </p:nvPr>
        </p:nvSpPr>
        <p:spPr/>
        <p:txBody>
          <a:bodyPr numCol="2" rtlCol="1">
            <a:normAutofit/>
          </a:bodyPr>
          <a:lstStyle/>
          <a:p>
            <a:pPr>
              <a:lnSpc>
                <a:spcPct val="100000"/>
              </a:lnSpc>
            </a:pPr>
            <a:r>
              <a:rPr lang="ps-AF" sz="3200" dirty="0">
                <a:latin typeface="Bahij Nazanin" panose="02040503050201020203" pitchFamily="18" charset="-78"/>
                <a:cs typeface="Bahij Nazanin" panose="02040503050201020203" pitchFamily="18" charset="-78"/>
              </a:rPr>
              <a:t>مرور مختصر به در </a:t>
            </a:r>
            <a:r>
              <a:rPr lang="prs-AF" sz="3200" dirty="0">
                <a:latin typeface="Bahij Nazanin" panose="02040503050201020203" pitchFamily="18" charset="-78"/>
                <a:cs typeface="Bahij Nazanin" panose="02040503050201020203" pitchFamily="18" charset="-78"/>
              </a:rPr>
              <a:t>گ</a:t>
            </a:r>
            <a:r>
              <a:rPr lang="ps-AF" sz="3200" dirty="0">
                <a:latin typeface="Bahij Nazanin" panose="02040503050201020203" pitchFamily="18" charset="-78"/>
                <a:cs typeface="Bahij Nazanin" panose="02040503050201020203" pitchFamily="18" charset="-78"/>
              </a:rPr>
              <a:t>ذشته</a:t>
            </a:r>
            <a:endParaRPr lang="prs-AF" sz="3200" dirty="0">
              <a:latin typeface="Bahij Nazanin" panose="02040503050201020203" pitchFamily="18" charset="-78"/>
              <a:cs typeface="Bahij Nazanin" panose="02040503050201020203" pitchFamily="18" charset="-78"/>
            </a:endParaRPr>
          </a:p>
          <a:p>
            <a:pPr>
              <a:lnSpc>
                <a:spcPct val="100000"/>
              </a:lnSpc>
            </a:pPr>
            <a:r>
              <a:rPr lang="prs-AF" sz="3200" dirty="0">
                <a:latin typeface="Bahij Nazanin" panose="02040503050201020203" pitchFamily="18" charset="-78"/>
                <a:cs typeface="Bahij Nazanin" panose="02040503050201020203" pitchFamily="18" charset="-78"/>
              </a:rPr>
              <a:t>نتایج متوقع از درس</a:t>
            </a:r>
          </a:p>
          <a:p>
            <a:pPr>
              <a:lnSpc>
                <a:spcPct val="100000"/>
              </a:lnSpc>
            </a:pPr>
            <a:r>
              <a:rPr lang="ps-AF" sz="3200" dirty="0">
                <a:latin typeface="Bahij Nazanin" panose="02040503050201020203" pitchFamily="18" charset="-78"/>
                <a:cs typeface="Bahij Nazanin" panose="02040503050201020203" pitchFamily="18" charset="-78"/>
              </a:rPr>
              <a:t>فتح مکه</a:t>
            </a:r>
          </a:p>
          <a:p>
            <a:pPr>
              <a:lnSpc>
                <a:spcPct val="100000"/>
              </a:lnSpc>
            </a:pPr>
            <a:r>
              <a:rPr lang="ps-AF" sz="3200" dirty="0">
                <a:latin typeface="Bahij Nazanin" panose="02040503050201020203" pitchFamily="18" charset="-78"/>
                <a:cs typeface="Bahij Nazanin" panose="02040503050201020203" pitchFamily="18" charset="-78"/>
              </a:rPr>
              <a:t>غزوه حنین</a:t>
            </a:r>
          </a:p>
          <a:p>
            <a:pPr>
              <a:lnSpc>
                <a:spcPct val="100000"/>
              </a:lnSpc>
            </a:pPr>
            <a:r>
              <a:rPr lang="ps-AF" sz="3200" dirty="0">
                <a:latin typeface="Bahij Nazanin" panose="02040503050201020203" pitchFamily="18" charset="-78"/>
                <a:cs typeface="Bahij Nazanin" panose="02040503050201020203" pitchFamily="18" charset="-78"/>
              </a:rPr>
              <a:t>غزوه تبوک</a:t>
            </a:r>
          </a:p>
        </p:txBody>
      </p:sp>
    </p:spTree>
    <p:extLst>
      <p:ext uri="{BB962C8B-B14F-4D97-AF65-F5344CB8AC3E}">
        <p14:creationId xmlns:p14="http://schemas.microsoft.com/office/powerpoint/2010/main" val="373254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rs-AF" dirty="0">
                <a:latin typeface="Adobe Arabic new" panose="02040703060201020203" pitchFamily="18" charset="-78"/>
                <a:cs typeface="Adobe Arabic new" panose="02040703060201020203" pitchFamily="18" charset="-78"/>
              </a:rPr>
              <a:t>مرور مختصر به درس گذشته</a:t>
            </a:r>
          </a:p>
        </p:txBody>
      </p:sp>
      <p:sp>
        <p:nvSpPr>
          <p:cNvPr id="3" name="Content Placeholder 2"/>
          <p:cNvSpPr>
            <a:spLocks noGrp="1"/>
          </p:cNvSpPr>
          <p:nvPr>
            <p:ph idx="1"/>
          </p:nvPr>
        </p:nvSpPr>
        <p:spPr/>
        <p:txBody>
          <a:bodyPr numCol="3" rtlCol="1">
            <a:noAutofit/>
          </a:bodyPr>
          <a:lstStyle/>
          <a:p>
            <a:pPr>
              <a:lnSpc>
                <a:spcPct val="100000"/>
              </a:lnSpc>
            </a:pPr>
            <a:r>
              <a:rPr lang="fa-IR" sz="4000" dirty="0">
                <a:latin typeface="Bahij Nazanin" panose="02040503050201020203" pitchFamily="18" charset="-78"/>
                <a:cs typeface="Bahij Nazanin" panose="02040503050201020203" pitchFamily="18" charset="-78"/>
              </a:rPr>
              <a:t>نبردهاي خونين</a:t>
            </a:r>
            <a:endParaRPr lang="prs-AF" sz="4000" dirty="0">
              <a:latin typeface="Bahij Nazanin" panose="02040503050201020203" pitchFamily="18" charset="-78"/>
              <a:cs typeface="Bahij Nazanin" panose="02040503050201020203" pitchFamily="18" charset="-78"/>
            </a:endParaRPr>
          </a:p>
          <a:p>
            <a:pPr>
              <a:lnSpc>
                <a:spcPct val="100000"/>
              </a:lnSpc>
            </a:pPr>
            <a:r>
              <a:rPr lang="prs-AF" sz="4000" dirty="0">
                <a:latin typeface="Bahij Nazanin" panose="02040503050201020203" pitchFamily="18" charset="-78"/>
                <a:cs typeface="Bahij Nazanin" panose="02040503050201020203" pitchFamily="18" charset="-78"/>
              </a:rPr>
              <a:t>غزوه احزاب</a:t>
            </a:r>
          </a:p>
          <a:p>
            <a:pPr>
              <a:lnSpc>
                <a:spcPct val="100000"/>
              </a:lnSpc>
            </a:pPr>
            <a:r>
              <a:rPr lang="prs-AF" sz="4000" dirty="0">
                <a:latin typeface="Bahij Nazanin" panose="02040503050201020203" pitchFamily="18" charset="-78"/>
                <a:cs typeface="Bahij Nazanin" panose="02040503050201020203" pitchFamily="18" charset="-78"/>
              </a:rPr>
              <a:t>غزوه بنی قریظه</a:t>
            </a:r>
          </a:p>
          <a:p>
            <a:pPr>
              <a:lnSpc>
                <a:spcPct val="100000"/>
              </a:lnSpc>
            </a:pPr>
            <a:r>
              <a:rPr lang="prs-AF" sz="4000" dirty="0">
                <a:latin typeface="Bahij Nazanin" panose="02040503050201020203" pitchFamily="18" charset="-78"/>
                <a:cs typeface="Bahij Nazanin" panose="02040503050201020203" pitchFamily="18" charset="-78"/>
              </a:rPr>
              <a:t>غزوه حدیبیه</a:t>
            </a:r>
          </a:p>
          <a:p>
            <a:pPr>
              <a:lnSpc>
                <a:spcPct val="100000"/>
              </a:lnSpc>
            </a:pPr>
            <a:r>
              <a:rPr lang="prs-AF" sz="4000" dirty="0">
                <a:latin typeface="Bahij Nazanin" panose="02040503050201020203" pitchFamily="18" charset="-78"/>
                <a:cs typeface="Bahij Nazanin" panose="02040503050201020203" pitchFamily="18" charset="-78"/>
              </a:rPr>
              <a:t>غزوه خیبر</a:t>
            </a:r>
          </a:p>
          <a:p>
            <a:pPr>
              <a:lnSpc>
                <a:spcPct val="100000"/>
              </a:lnSpc>
            </a:pPr>
            <a:r>
              <a:rPr lang="prs-AF" sz="4000" dirty="0">
                <a:latin typeface="Bahij Nazanin" panose="02040503050201020203" pitchFamily="18" charset="-78"/>
                <a:cs typeface="Bahij Nazanin" panose="02040503050201020203" pitchFamily="18" charset="-78"/>
              </a:rPr>
              <a:t>غزوه موته</a:t>
            </a:r>
          </a:p>
        </p:txBody>
      </p:sp>
    </p:spTree>
    <p:extLst>
      <p:ext uri="{BB962C8B-B14F-4D97-AF65-F5344CB8AC3E}">
        <p14:creationId xmlns:p14="http://schemas.microsoft.com/office/powerpoint/2010/main" val="1421607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rs-AF" dirty="0"/>
              <a:t>نتايج متوقع از درس</a:t>
            </a:r>
            <a:endParaRPr lang="en-US" dirty="0"/>
          </a:p>
        </p:txBody>
      </p:sp>
      <p:sp>
        <p:nvSpPr>
          <p:cNvPr id="3" name="Content Placeholder 2"/>
          <p:cNvSpPr>
            <a:spLocks noGrp="1"/>
          </p:cNvSpPr>
          <p:nvPr>
            <p:ph idx="1"/>
          </p:nvPr>
        </p:nvSpPr>
        <p:spPr/>
        <p:txBody>
          <a:bodyPr>
            <a:normAutofit/>
          </a:bodyPr>
          <a:lstStyle/>
          <a:p>
            <a:pPr lvl="1" algn="justLow">
              <a:lnSpc>
                <a:spcPct val="150000"/>
              </a:lnSpc>
            </a:pPr>
            <a:endParaRPr lang="ps-AF" sz="2800" dirty="0">
              <a:latin typeface="Adobe Arabic new" panose="02040703060201020203" pitchFamily="18" charset="-78"/>
              <a:cs typeface="Adobe Arabic new" panose="02040703060201020203" pitchFamily="18" charset="-78"/>
            </a:endParaRPr>
          </a:p>
          <a:p>
            <a:pPr lvl="1" algn="justLow">
              <a:lnSpc>
                <a:spcPct val="150000"/>
              </a:lnSpc>
            </a:pPr>
            <a:r>
              <a:rPr lang="ps-AF" sz="2800" dirty="0">
                <a:latin typeface="Adobe Arabic new" panose="02040703060201020203" pitchFamily="18" charset="-78"/>
                <a:cs typeface="Adobe Arabic new" panose="02040703060201020203" pitchFamily="18" charset="-78"/>
              </a:rPr>
              <a:t>خواندن</a:t>
            </a:r>
            <a:r>
              <a:rPr lang="prs-AF" sz="2800" dirty="0">
                <a:latin typeface="Adobe Arabic new" panose="02040703060201020203" pitchFamily="18" charset="-78"/>
                <a:cs typeface="Adobe Arabic new" panose="02040703060201020203" pitchFamily="18" charset="-78"/>
              </a:rPr>
              <a:t> ودانستن</a:t>
            </a:r>
            <a:r>
              <a:rPr lang="ps-AF" sz="2800" dirty="0">
                <a:latin typeface="Adobe Arabic new" panose="02040703060201020203" pitchFamily="18" charset="-78"/>
                <a:cs typeface="Adobe Arabic new" panose="02040703060201020203" pitchFamily="18" charset="-78"/>
              </a:rPr>
              <a:t> اسباب جن</a:t>
            </a:r>
            <a:r>
              <a:rPr lang="prs-AF" sz="2800" dirty="0">
                <a:latin typeface="Adobe Arabic new" panose="02040703060201020203" pitchFamily="18" charset="-78"/>
                <a:cs typeface="Adobe Arabic new" panose="02040703060201020203" pitchFamily="18" charset="-78"/>
              </a:rPr>
              <a:t>گ</a:t>
            </a:r>
            <a:r>
              <a:rPr lang="ps-AF" sz="2800" dirty="0">
                <a:latin typeface="Adobe Arabic new" panose="02040703060201020203" pitchFamily="18" charset="-78"/>
                <a:cs typeface="Adobe Arabic new" panose="02040703060201020203" pitchFamily="18" charset="-78"/>
              </a:rPr>
              <a:t>ها وتفاصیل غزوات النبي عليه السلام</a:t>
            </a:r>
            <a:r>
              <a:rPr lang="prs-AF" sz="2800" dirty="0">
                <a:latin typeface="Adobe Arabic new" panose="02040703060201020203" pitchFamily="18" charset="-78"/>
                <a:cs typeface="Adobe Arabic new" panose="02040703060201020203" pitchFamily="18" charset="-78"/>
              </a:rPr>
              <a:t>.</a:t>
            </a:r>
            <a:endParaRPr lang="ps-AF" sz="2800" dirty="0">
              <a:latin typeface="Adobe Arabic new" panose="02040703060201020203" pitchFamily="18" charset="-78"/>
              <a:cs typeface="Adobe Arabic new" panose="02040703060201020203" pitchFamily="18" charset="-78"/>
            </a:endParaRPr>
          </a:p>
          <a:p>
            <a:pPr>
              <a:lnSpc>
                <a:spcPct val="150000"/>
              </a:lnSpc>
            </a:pPr>
            <a:endParaRPr lang="en-US" dirty="0">
              <a:latin typeface="Adobe Arabic new" panose="02040703060201020203" pitchFamily="18" charset="-78"/>
              <a:cs typeface="Adobe Arabic new" panose="02040703060201020203" pitchFamily="18" charset="-78"/>
            </a:endParaRPr>
          </a:p>
        </p:txBody>
      </p:sp>
    </p:spTree>
    <p:extLst>
      <p:ext uri="{BB962C8B-B14F-4D97-AF65-F5344CB8AC3E}">
        <p14:creationId xmlns:p14="http://schemas.microsoft.com/office/powerpoint/2010/main" val="100615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ps-AF" dirty="0"/>
              <a:t>فتح مکه</a:t>
            </a:r>
            <a:endParaRPr lang="en-US" dirty="0"/>
          </a:p>
        </p:txBody>
      </p:sp>
      <p:sp>
        <p:nvSpPr>
          <p:cNvPr id="3" name="Content Placeholder 2"/>
          <p:cNvSpPr>
            <a:spLocks noGrp="1"/>
          </p:cNvSpPr>
          <p:nvPr>
            <p:ph idx="1"/>
          </p:nvPr>
        </p:nvSpPr>
        <p:spPr>
          <a:xfrm>
            <a:off x="518616" y="1300900"/>
            <a:ext cx="11080259" cy="5033912"/>
          </a:xfrm>
        </p:spPr>
        <p:txBody>
          <a:bodyPr>
            <a:normAutofit fontScale="92500" lnSpcReduction="20000"/>
          </a:bodyPr>
          <a:lstStyle/>
          <a:p>
            <a:pPr algn="justLow">
              <a:lnSpc>
                <a:spcPct val="100000"/>
              </a:lnSpc>
            </a:pPr>
            <a:r>
              <a:rPr lang="fa-IR" sz="3200" dirty="0">
                <a:latin typeface="Bahij Nazanin" panose="02040503050201020203" pitchFamily="18" charset="-78"/>
                <a:cs typeface="Bahij Nazanin" panose="02040503050201020203" pitchFamily="18" charset="-78"/>
              </a:rPr>
              <a:t>این غزوه در ماه رمضان سال هشتم هجری انجام شد</a:t>
            </a:r>
            <a:r>
              <a:rPr lang="ps-AF" sz="3200" dirty="0">
                <a:latin typeface="Bahij Nazanin" panose="02040503050201020203" pitchFamily="18" charset="-78"/>
                <a:cs typeface="Bahij Nazanin" panose="02040503050201020203" pitchFamily="18" charset="-78"/>
              </a:rPr>
              <a:t>.</a:t>
            </a:r>
          </a:p>
          <a:p>
            <a:pPr algn="justLow">
              <a:lnSpc>
                <a:spcPct val="120000"/>
              </a:lnSpc>
            </a:pPr>
            <a:r>
              <a:rPr lang="ps-AF" sz="3200" dirty="0">
                <a:latin typeface="Bahij Nazanin" panose="02040503050201020203" pitchFamily="18" charset="-78"/>
                <a:cs typeface="Bahij Nazanin" panose="02040503050201020203" pitchFamily="18" charset="-78"/>
              </a:rPr>
              <a:t>ان</a:t>
            </a:r>
            <a:r>
              <a:rPr lang="prs-AF" sz="3200" dirty="0">
                <a:latin typeface="Bahij Nazanin" panose="02040503050201020203" pitchFamily="18" charset="-78"/>
                <a:cs typeface="Bahij Nazanin" panose="02040503050201020203" pitchFamily="18" charset="-78"/>
              </a:rPr>
              <a:t>گیزه جنگ</a:t>
            </a:r>
            <a:r>
              <a:rPr lang="ps-AF" sz="3200" dirty="0">
                <a:latin typeface="Bahij Nazanin" panose="02040503050201020203" pitchFamily="18" charset="-78"/>
                <a:cs typeface="Bahij Nazanin" panose="02040503050201020203" pitchFamily="18" charset="-78"/>
              </a:rPr>
              <a:t>:</a:t>
            </a:r>
            <a:endParaRPr lang="ps-AF" dirty="0">
              <a:latin typeface="Bahij Nazanin" panose="02040503050201020203" pitchFamily="18" charset="-78"/>
              <a:cs typeface="Bahij Nazanin" panose="02040503050201020203" pitchFamily="18" charset="-78"/>
            </a:endParaRPr>
          </a:p>
          <a:p>
            <a:pPr marL="457200" lvl="1" indent="0" algn="justLow">
              <a:lnSpc>
                <a:spcPct val="120000"/>
              </a:lnSpc>
              <a:buNone/>
            </a:pPr>
            <a:r>
              <a:rPr lang="fa-IR" sz="2800" dirty="0">
                <a:latin typeface="Bahij Nazanin" panose="02040503050201020203" pitchFamily="18" charset="-78"/>
                <a:cs typeface="Bahij Nazanin" panose="02040503050201020203" pitchFamily="18" charset="-78"/>
              </a:rPr>
              <a:t>در پیمان صلح حدیبیه آمده بود که هر یک از طایفه‌های عرب می‌تواند با رسول خدا یا با قریش هم پیمان شود در پی این تصمیم طایفه‌ی (بنوبکر) با قریش هم پیمان شدند و طایفه خزاعه نیز با پیامبر عليه السلام هم پیمان شدند در همان سال بنوبکر بر خزاعه حمله کردند و نزدیک به بیست نفر از آنان را کشتند و قریش نیز با مال و اسلحه بنوبکر را یاری دادند پیامبر عليه السلام با شنیدن این خبر خیلی ناراحت شد و برای جنگ با قریش خود را آماده کرد</a:t>
            </a:r>
            <a:r>
              <a:rPr lang="ps-AF" sz="2800" dirty="0">
                <a:latin typeface="Bahij Nazanin" panose="02040503050201020203" pitchFamily="18" charset="-78"/>
                <a:cs typeface="Bahij Nazanin" panose="02040503050201020203" pitchFamily="18" charset="-78"/>
              </a:rPr>
              <a:t>.</a:t>
            </a:r>
          </a:p>
          <a:p>
            <a:pPr algn="justLow">
              <a:lnSpc>
                <a:spcPct val="100000"/>
              </a:lnSpc>
            </a:pPr>
            <a:r>
              <a:rPr lang="ps-AF" sz="3200" dirty="0">
                <a:latin typeface="Bahij Nazanin" panose="02040503050201020203" pitchFamily="18" charset="-78"/>
                <a:cs typeface="Bahij Nazanin" panose="02040503050201020203" pitchFamily="18" charset="-78"/>
              </a:rPr>
              <a:t>تعداد مسلمانان:</a:t>
            </a:r>
          </a:p>
          <a:p>
            <a:pPr marL="457200" lvl="1" indent="0" algn="justLow">
              <a:lnSpc>
                <a:spcPct val="100000"/>
              </a:lnSpc>
              <a:buNone/>
            </a:pPr>
            <a:r>
              <a:rPr lang="ps-AF" sz="2800" dirty="0">
                <a:latin typeface="Bahij Nazanin" panose="02040503050201020203" pitchFamily="18" charset="-78"/>
                <a:cs typeface="Bahij Nazanin" panose="02040503050201020203" pitchFamily="18" charset="-78"/>
              </a:rPr>
              <a:t>از ۱۰۰۰۰ زیاد بود.</a:t>
            </a:r>
          </a:p>
          <a:p>
            <a:pPr algn="justLow">
              <a:lnSpc>
                <a:spcPct val="100000"/>
              </a:lnSpc>
            </a:pPr>
            <a:r>
              <a:rPr lang="ps-AF" sz="3200" dirty="0">
                <a:latin typeface="Bahij Nazanin" panose="02040503050201020203" pitchFamily="18" charset="-78"/>
                <a:cs typeface="Bahij Nazanin" panose="02040503050201020203" pitchFamily="18" charset="-78"/>
              </a:rPr>
              <a:t>نتيجه غزوه:</a:t>
            </a:r>
          </a:p>
          <a:p>
            <a:pPr marL="457200" lvl="1" indent="0" algn="justLow">
              <a:lnSpc>
                <a:spcPct val="100000"/>
              </a:lnSpc>
              <a:buNone/>
            </a:pPr>
            <a:r>
              <a:rPr lang="ps-AF" sz="2800" dirty="0">
                <a:latin typeface="Bahij Nazanin" panose="02040503050201020203" pitchFamily="18" charset="-78"/>
                <a:cs typeface="Bahij Nazanin" panose="02040503050201020203" pitchFamily="18" charset="-78"/>
              </a:rPr>
              <a:t>تسلیم شدن تمام اهالی مکه، وفتح مکه.</a:t>
            </a:r>
          </a:p>
        </p:txBody>
      </p:sp>
    </p:spTree>
    <p:extLst>
      <p:ext uri="{BB962C8B-B14F-4D97-AF65-F5344CB8AC3E}">
        <p14:creationId xmlns:p14="http://schemas.microsoft.com/office/powerpoint/2010/main" val="237475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t>غزوه حنين</a:t>
            </a:r>
            <a:endParaRPr lang="en-US" dirty="0"/>
          </a:p>
        </p:txBody>
      </p:sp>
      <p:sp>
        <p:nvSpPr>
          <p:cNvPr id="3" name="Content Placeholder 2"/>
          <p:cNvSpPr>
            <a:spLocks noGrp="1"/>
          </p:cNvSpPr>
          <p:nvPr>
            <p:ph idx="1"/>
          </p:nvPr>
        </p:nvSpPr>
        <p:spPr>
          <a:xfrm>
            <a:off x="518616" y="1398495"/>
            <a:ext cx="11080259" cy="4738354"/>
          </a:xfrm>
        </p:spPr>
        <p:txBody>
          <a:bodyPr>
            <a:normAutofit fontScale="77500" lnSpcReduction="20000"/>
          </a:bodyPr>
          <a:lstStyle/>
          <a:p>
            <a:pPr>
              <a:lnSpc>
                <a:spcPct val="100000"/>
              </a:lnSpc>
            </a:pPr>
            <a:r>
              <a:rPr lang="fa-IR" sz="3600" dirty="0">
                <a:latin typeface="Bahij Nazanin" panose="02040503050201020203" pitchFamily="18" charset="-78"/>
                <a:cs typeface="Bahij Nazanin" panose="02040503050201020203" pitchFamily="18" charset="-78"/>
              </a:rPr>
              <a:t>غزوه‌ی حنین در دهم ماه شوال سال هشتم هجری انجام شد</a:t>
            </a:r>
            <a:r>
              <a:rPr lang="ps-AF" sz="3600" dirty="0">
                <a:latin typeface="Bahij Nazanin" panose="02040503050201020203" pitchFamily="18" charset="-78"/>
                <a:cs typeface="Bahij Nazanin" panose="02040503050201020203" pitchFamily="18" charset="-78"/>
              </a:rPr>
              <a:t>.</a:t>
            </a:r>
            <a:r>
              <a:rPr lang="fa-IR" sz="3600" dirty="0">
                <a:latin typeface="Bahij Nazanin" panose="02040503050201020203" pitchFamily="18" charset="-78"/>
                <a:cs typeface="Bahij Nazanin" panose="02040503050201020203" pitchFamily="18" charset="-78"/>
              </a:rPr>
              <a:t> </a:t>
            </a:r>
            <a:endParaRPr lang="ps-AF" sz="3600" dirty="0">
              <a:latin typeface="Bahij Nazanin" panose="02040503050201020203" pitchFamily="18" charset="-78"/>
              <a:cs typeface="Bahij Nazanin" panose="02040503050201020203" pitchFamily="18" charset="-78"/>
            </a:endParaRPr>
          </a:p>
          <a:p>
            <a:pPr>
              <a:lnSpc>
                <a:spcPct val="120000"/>
              </a:lnSpc>
            </a:pPr>
            <a:r>
              <a:rPr lang="ps-AF" sz="3600" dirty="0">
                <a:latin typeface="Bahij Nazanin" panose="02040503050201020203" pitchFamily="18" charset="-78"/>
                <a:cs typeface="Bahij Nazanin" panose="02040503050201020203" pitchFamily="18" charset="-78"/>
              </a:rPr>
              <a:t>ان</a:t>
            </a:r>
            <a:r>
              <a:rPr lang="prs-AF" sz="3600" dirty="0">
                <a:latin typeface="Bahij Nazanin" panose="02040503050201020203" pitchFamily="18" charset="-78"/>
                <a:cs typeface="Bahij Nazanin" panose="02040503050201020203" pitchFamily="18" charset="-78"/>
              </a:rPr>
              <a:t>گیزه جنگ:</a:t>
            </a:r>
          </a:p>
          <a:p>
            <a:pPr lvl="1" algn="justLow">
              <a:lnSpc>
                <a:spcPct val="120000"/>
              </a:lnSpc>
            </a:pPr>
            <a:r>
              <a:rPr lang="fa-IR" sz="2900" dirty="0">
                <a:latin typeface="Bahij Nazanin" panose="02040503050201020203" pitchFamily="18" charset="-78"/>
                <a:cs typeface="Bahij Nazanin" panose="02040503050201020203" pitchFamily="18" charset="-78"/>
              </a:rPr>
              <a:t>سبب این جنگ آن بود که پس از فتح مکه سران قبیله‌های هوازن و ثقیف گمان کردند که پیامبر عليه السلام پس از پاکسازی مکه به آنان حمله خواهد کرد. آنها تصمیم گرفتند که پیش از حمله‌ی محمد عليه السلام جنگ را شروع کنند و مالک بن عوف را فرمانده‌ی خود کردند مالک دستور داد تا همۀ آنها به همراه اموال، زن و فرزند و چهار پایان خویش برای جنگ حرکت کنند، و پیامبر عليه السلام نیز با آنان اعلام جنگ نمود. </a:t>
            </a:r>
            <a:endParaRPr lang="ps-AF" sz="2900" dirty="0">
              <a:latin typeface="Bahij Nazanin" panose="02040503050201020203" pitchFamily="18" charset="-78"/>
              <a:cs typeface="Bahij Nazanin" panose="02040503050201020203" pitchFamily="18" charset="-78"/>
            </a:endParaRPr>
          </a:p>
          <a:p>
            <a:pPr>
              <a:lnSpc>
                <a:spcPct val="120000"/>
              </a:lnSpc>
            </a:pPr>
            <a:r>
              <a:rPr lang="prs-AF" sz="3600" dirty="0">
                <a:latin typeface="Bahij Nazanin" panose="02040503050201020203" pitchFamily="18" charset="-78"/>
                <a:cs typeface="Bahij Nazanin" panose="02040503050201020203" pitchFamily="18" charset="-78"/>
              </a:rPr>
              <a:t>تعداد لشکر دو جانبه:</a:t>
            </a:r>
          </a:p>
          <a:p>
            <a:pPr lvl="1">
              <a:lnSpc>
                <a:spcPct val="100000"/>
              </a:lnSpc>
            </a:pPr>
            <a:r>
              <a:rPr lang="prs-AF" sz="2900" dirty="0">
                <a:latin typeface="Bahij Nazanin" panose="02040503050201020203" pitchFamily="18" charset="-78"/>
                <a:cs typeface="Bahij Nazanin" panose="02040503050201020203" pitchFamily="18" charset="-78"/>
              </a:rPr>
              <a:t>از طرف مسلمانان: </a:t>
            </a:r>
            <a:r>
              <a:rPr lang="ps-AF" sz="2900" dirty="0">
                <a:latin typeface="Bahij Nazanin" panose="02040503050201020203" pitchFamily="18" charset="-78"/>
                <a:cs typeface="Bahij Nazanin" panose="02040503050201020203" pitchFamily="18" charset="-78"/>
              </a:rPr>
              <a:t>۱۲۰۰۰</a:t>
            </a:r>
            <a:endParaRPr lang="prs-AF" sz="2900" dirty="0">
              <a:latin typeface="Bahij Nazanin" panose="02040503050201020203" pitchFamily="18" charset="-78"/>
              <a:cs typeface="Bahij Nazanin" panose="02040503050201020203" pitchFamily="18" charset="-78"/>
            </a:endParaRPr>
          </a:p>
          <a:p>
            <a:pPr lvl="1">
              <a:lnSpc>
                <a:spcPct val="100000"/>
              </a:lnSpc>
            </a:pPr>
            <a:r>
              <a:rPr lang="prs-AF" sz="2900" dirty="0">
                <a:latin typeface="Bahij Nazanin" panose="02040503050201020203" pitchFamily="18" charset="-78"/>
                <a:cs typeface="Bahij Nazanin" panose="02040503050201020203" pitchFamily="18" charset="-78"/>
              </a:rPr>
              <a:t>از طرف کافران: ۲۰۰۰۰ تا ۳۰۰۰۰</a:t>
            </a:r>
          </a:p>
          <a:p>
            <a:pPr>
              <a:lnSpc>
                <a:spcPct val="100000"/>
              </a:lnSpc>
            </a:pPr>
            <a:r>
              <a:rPr lang="prs-AF" sz="3600" dirty="0">
                <a:latin typeface="Bahij Nazanin" panose="02040503050201020203" pitchFamily="18" charset="-78"/>
                <a:cs typeface="Bahij Nazanin" panose="02040503050201020203" pitchFamily="18" charset="-78"/>
              </a:rPr>
              <a:t>نتيجه جنگ:</a:t>
            </a:r>
          </a:p>
          <a:p>
            <a:pPr marL="457200" lvl="1" indent="0" algn="justLow">
              <a:lnSpc>
                <a:spcPct val="100000"/>
              </a:lnSpc>
              <a:buNone/>
            </a:pPr>
            <a:r>
              <a:rPr lang="ps-AF" sz="2900" dirty="0">
                <a:latin typeface="Bahij Nazanin" panose="02040503050201020203" pitchFamily="18" charset="-78"/>
                <a:cs typeface="Bahij Nazanin" panose="02040503050201020203" pitchFamily="18" charset="-78"/>
              </a:rPr>
              <a:t>شکست کفار وپیروزی مسلمانان.</a:t>
            </a:r>
            <a:endParaRPr lang="en-US" sz="2900"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65300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t>غزوه تبوک</a:t>
            </a:r>
            <a:endParaRPr lang="en-US" dirty="0"/>
          </a:p>
        </p:txBody>
      </p:sp>
      <p:sp>
        <p:nvSpPr>
          <p:cNvPr id="3" name="Content Placeholder 2"/>
          <p:cNvSpPr>
            <a:spLocks noGrp="1"/>
          </p:cNvSpPr>
          <p:nvPr>
            <p:ph idx="1"/>
          </p:nvPr>
        </p:nvSpPr>
        <p:spPr/>
        <p:txBody>
          <a:bodyPr>
            <a:noAutofit/>
          </a:bodyPr>
          <a:lstStyle/>
          <a:p>
            <a:pPr algn="justLow">
              <a:lnSpc>
                <a:spcPct val="100000"/>
              </a:lnSpc>
            </a:pPr>
            <a:r>
              <a:rPr lang="fa-IR" sz="3200" dirty="0">
                <a:latin typeface="Bahij Nazanin" panose="02040503050201020203" pitchFamily="18" charset="-78"/>
                <a:cs typeface="Bahij Nazanin" panose="02040503050201020203" pitchFamily="18" charset="-78"/>
              </a:rPr>
              <a:t>نام دیگر آن غزوه‌ی «عسره» است، این غزوه در ماه رجب سال نهم هجری انجام شد</a:t>
            </a:r>
            <a:r>
              <a:rPr lang="ps-AF" sz="3200" dirty="0">
                <a:latin typeface="Bahij Nazanin" panose="02040503050201020203" pitchFamily="18" charset="-78"/>
                <a:cs typeface="Bahij Nazanin" panose="02040503050201020203" pitchFamily="18" charset="-78"/>
              </a:rPr>
              <a:t>.</a:t>
            </a:r>
          </a:p>
          <a:p>
            <a:pPr algn="justLow">
              <a:lnSpc>
                <a:spcPct val="100000"/>
              </a:lnSpc>
            </a:pPr>
            <a:r>
              <a:rPr lang="prs-AF" sz="3600" dirty="0">
                <a:latin typeface="Bahij Nazanin" panose="02040503050201020203" pitchFamily="18" charset="-78"/>
                <a:cs typeface="Bahij Nazanin" panose="02040503050201020203" pitchFamily="18" charset="-78"/>
              </a:rPr>
              <a:t>انگیزه این غزوه</a:t>
            </a:r>
            <a:r>
              <a:rPr lang="ps-AF" sz="3600" dirty="0">
                <a:latin typeface="Bahij Nazanin" panose="02040503050201020203" pitchFamily="18" charset="-78"/>
                <a:cs typeface="Bahij Nazanin" panose="02040503050201020203" pitchFamily="18" charset="-78"/>
              </a:rPr>
              <a:t>:</a:t>
            </a:r>
          </a:p>
          <a:p>
            <a:pPr marL="685800" lvl="2" algn="justLow">
              <a:lnSpc>
                <a:spcPct val="100000"/>
              </a:lnSpc>
              <a:spcBef>
                <a:spcPts val="1000"/>
              </a:spcBef>
            </a:pPr>
            <a:r>
              <a:rPr lang="fa-IR" sz="2800" dirty="0">
                <a:latin typeface="Bahij Nazanin" panose="02040503050201020203" pitchFamily="18" charset="-78"/>
                <a:cs typeface="Bahij Nazanin" panose="02040503050201020203" pitchFamily="18" charset="-78"/>
              </a:rPr>
              <a:t>غزوه‌ی تبوک به این علت انجام شد که دولت روم لشکر زیادی را در شام آماده کرده بود تا به همراه تعداد دیگری از قبیله‌های عرب به مدینه حمله کنند تا مسلمانان را که خبر فتوحات پی در پی آنان ترس و وحشت را در دل هرقل ایجاد کرده بود از پای در آوردند. </a:t>
            </a:r>
            <a:endParaRPr lang="prs-AF" sz="2800"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1305174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sz="3600" b="0" dirty="0"/>
              <a:t>ادامه...</a:t>
            </a:r>
            <a:r>
              <a:rPr lang="ps-AF" dirty="0"/>
              <a:t> غزوه تبوک</a:t>
            </a:r>
            <a:endParaRPr lang="en-US" dirty="0"/>
          </a:p>
        </p:txBody>
      </p:sp>
      <p:sp>
        <p:nvSpPr>
          <p:cNvPr id="3" name="Content Placeholder 2"/>
          <p:cNvSpPr>
            <a:spLocks noGrp="1"/>
          </p:cNvSpPr>
          <p:nvPr>
            <p:ph idx="1"/>
          </p:nvPr>
        </p:nvSpPr>
        <p:spPr/>
        <p:txBody>
          <a:bodyPr>
            <a:normAutofit/>
          </a:bodyPr>
          <a:lstStyle/>
          <a:p>
            <a:pPr>
              <a:lnSpc>
                <a:spcPct val="100000"/>
              </a:lnSpc>
            </a:pPr>
            <a:r>
              <a:rPr lang="prs-AF" sz="3600" dirty="0">
                <a:latin typeface="Bahij Nazanin" panose="02040503050201020203" pitchFamily="18" charset="-78"/>
                <a:cs typeface="Bahij Nazanin" panose="02040503050201020203" pitchFamily="18" charset="-78"/>
              </a:rPr>
              <a:t>تعداد لشکر دو جانبه:</a:t>
            </a:r>
          </a:p>
          <a:p>
            <a:pPr lvl="1">
              <a:lnSpc>
                <a:spcPct val="100000"/>
              </a:lnSpc>
            </a:pPr>
            <a:r>
              <a:rPr lang="prs-AF" sz="3200" dirty="0">
                <a:latin typeface="Bahij Nazanin" panose="02040503050201020203" pitchFamily="18" charset="-78"/>
                <a:cs typeface="Bahij Nazanin" panose="02040503050201020203" pitchFamily="18" charset="-78"/>
              </a:rPr>
              <a:t>از طرف مسلمانان: </a:t>
            </a:r>
            <a:r>
              <a:rPr lang="ps-AF" sz="3200" dirty="0">
                <a:latin typeface="Bahij Nazanin" panose="02040503050201020203" pitchFamily="18" charset="-78"/>
                <a:cs typeface="Bahij Nazanin" panose="02040503050201020203" pitchFamily="18" charset="-78"/>
              </a:rPr>
              <a:t>۳۰۰۰۰</a:t>
            </a:r>
            <a:endParaRPr lang="prs-AF" sz="3200" dirty="0">
              <a:latin typeface="Bahij Nazanin" panose="02040503050201020203" pitchFamily="18" charset="-78"/>
              <a:cs typeface="Bahij Nazanin" panose="02040503050201020203" pitchFamily="18" charset="-78"/>
            </a:endParaRPr>
          </a:p>
          <a:p>
            <a:pPr lvl="1">
              <a:lnSpc>
                <a:spcPct val="100000"/>
              </a:lnSpc>
            </a:pPr>
            <a:r>
              <a:rPr lang="prs-AF" sz="3200" dirty="0">
                <a:latin typeface="Bahij Nazanin" panose="02040503050201020203" pitchFamily="18" charset="-78"/>
                <a:cs typeface="Bahij Nazanin" panose="02040503050201020203" pitchFamily="18" charset="-78"/>
              </a:rPr>
              <a:t>از طرف کافران: </a:t>
            </a:r>
            <a:r>
              <a:rPr lang="ps-AF" sz="3200" dirty="0">
                <a:latin typeface="Bahij Nazanin" panose="02040503050201020203" pitchFamily="18" charset="-78"/>
                <a:cs typeface="Bahij Nazanin" panose="02040503050201020203" pitchFamily="18" charset="-78"/>
              </a:rPr>
              <a:t>۴۰۰۰۰</a:t>
            </a:r>
            <a:endParaRPr lang="ps-AF" sz="3600" dirty="0">
              <a:latin typeface="Bahij Nazanin" panose="02040503050201020203" pitchFamily="18" charset="-78"/>
              <a:cs typeface="Bahij Nazanin" panose="02040503050201020203" pitchFamily="18" charset="-78"/>
            </a:endParaRPr>
          </a:p>
          <a:p>
            <a:pPr algn="justLow">
              <a:lnSpc>
                <a:spcPct val="100000"/>
              </a:lnSpc>
            </a:pPr>
            <a:r>
              <a:rPr lang="prs-AF" sz="3600" dirty="0">
                <a:latin typeface="Bahij Nazanin" panose="02040503050201020203" pitchFamily="18" charset="-78"/>
                <a:cs typeface="Bahij Nazanin" panose="02040503050201020203" pitchFamily="18" charset="-78"/>
              </a:rPr>
              <a:t>واقعات مهم این غزوه.</a:t>
            </a:r>
          </a:p>
          <a:p>
            <a:pPr algn="justLow">
              <a:lnSpc>
                <a:spcPct val="100000"/>
              </a:lnSpc>
            </a:pPr>
            <a:r>
              <a:rPr lang="prs-AF" sz="3600" dirty="0">
                <a:latin typeface="Bahij Nazanin" panose="02040503050201020203" pitchFamily="18" charset="-78"/>
                <a:cs typeface="Bahij Nazanin" panose="02040503050201020203" pitchFamily="18" charset="-78"/>
              </a:rPr>
              <a:t>نتیجه جنگ.</a:t>
            </a:r>
            <a:endParaRPr lang="en-US" sz="3600"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89791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654" y="2017028"/>
            <a:ext cx="9968061" cy="2207240"/>
          </a:xfrm>
        </p:spPr>
        <p:txBody>
          <a:bodyPr>
            <a:normAutofit/>
          </a:bodyPr>
          <a:lstStyle/>
          <a:p>
            <a:pPr algn="ctr">
              <a:lnSpc>
                <a:spcPct val="150000"/>
              </a:lnSpc>
            </a:pPr>
            <a:r>
              <a:rPr lang="ps-AF" dirty="0"/>
              <a:t>درس و عبرت</a:t>
            </a:r>
            <a:br>
              <a:rPr lang="ps-AF" dirty="0"/>
            </a:br>
            <a:r>
              <a:rPr lang="ps-AF" dirty="0"/>
              <a:t>تبصره در رابطه به درس</a:t>
            </a:r>
            <a:endParaRPr lang="en-US" dirty="0"/>
          </a:p>
        </p:txBody>
      </p:sp>
    </p:spTree>
    <p:extLst>
      <p:ext uri="{BB962C8B-B14F-4D97-AF65-F5344CB8AC3E}">
        <p14:creationId xmlns:p14="http://schemas.microsoft.com/office/powerpoint/2010/main" val="1972793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t>منابع مضمون</a:t>
            </a:r>
            <a:endParaRPr lang="en-US" dirty="0"/>
          </a:p>
        </p:txBody>
      </p:sp>
      <p:sp>
        <p:nvSpPr>
          <p:cNvPr id="3" name="Content Placeholder 2"/>
          <p:cNvSpPr>
            <a:spLocks noGrp="1"/>
          </p:cNvSpPr>
          <p:nvPr>
            <p:ph idx="1"/>
          </p:nvPr>
        </p:nvSpPr>
        <p:spPr/>
        <p:txBody>
          <a:bodyPr/>
          <a:lstStyle/>
          <a:p>
            <a:r>
              <a:rPr lang="ps-AF" dirty="0">
                <a:latin typeface="Adobe Arabic new" panose="02040703060201020203" pitchFamily="18" charset="-78"/>
                <a:cs typeface="Adobe Arabic new" panose="02040703060201020203" pitchFamily="18" charset="-78"/>
              </a:rPr>
              <a:t>۱. </a:t>
            </a:r>
            <a:r>
              <a:rPr lang="ar-SA" dirty="0">
                <a:latin typeface="Adobe Arabic new" panose="02040703060201020203" pitchFamily="18" charset="-78"/>
                <a:cs typeface="Adobe Arabic new" panose="02040703060201020203" pitchFamily="18" charset="-78"/>
              </a:rPr>
              <a:t>سیرة ابن هشام، لابن هشام.</a:t>
            </a:r>
          </a:p>
          <a:p>
            <a:r>
              <a:rPr lang="ar-SA" dirty="0">
                <a:latin typeface="Adobe Arabic new" panose="02040703060201020203" pitchFamily="18" charset="-78"/>
                <a:cs typeface="Adobe Arabic new" panose="02040703060201020203" pitchFamily="18" charset="-78"/>
              </a:rPr>
              <a:t>2. السیرة النبویة، للشیخ ابو الحسن الندوي.</a:t>
            </a:r>
          </a:p>
          <a:p>
            <a:r>
              <a:rPr lang="ar-SA" dirty="0">
                <a:latin typeface="Adobe Arabic new" panose="02040703060201020203" pitchFamily="18" charset="-78"/>
                <a:cs typeface="Adobe Arabic new" panose="02040703060201020203" pitchFamily="18" charset="-78"/>
              </a:rPr>
              <a:t>3. السیرة النبوية، دروس وعبر، شیخ مصطفی السباعي.</a:t>
            </a:r>
          </a:p>
          <a:p>
            <a:r>
              <a:rPr lang="ar-SA" dirty="0">
                <a:latin typeface="Adobe Arabic new" panose="02040703060201020203" pitchFamily="18" charset="-78"/>
                <a:cs typeface="Adobe Arabic new" panose="02040703060201020203" pitchFamily="18" charset="-78"/>
              </a:rPr>
              <a:t>4. السیرة النبوية، عرض وقائع وتحلیل أحداث، شيخ علي محمد الصلابي.</a:t>
            </a:r>
          </a:p>
          <a:p>
            <a:r>
              <a:rPr lang="ar-SA" dirty="0">
                <a:latin typeface="Adobe Arabic new" panose="02040703060201020203" pitchFamily="18" charset="-78"/>
                <a:cs typeface="Adobe Arabic new" panose="02040703060201020203" pitchFamily="18" charset="-78"/>
              </a:rPr>
              <a:t>5. فقه السيرة، شيخ رمضان البوطي.</a:t>
            </a:r>
          </a:p>
          <a:p>
            <a:r>
              <a:rPr lang="ar-SA" dirty="0">
                <a:latin typeface="Adobe Arabic new" panose="02040703060201020203" pitchFamily="18" charset="-78"/>
                <a:cs typeface="Adobe Arabic new" panose="02040703060201020203" pitchFamily="18" charset="-78"/>
              </a:rPr>
              <a:t>6. تاريخ الخلفاء للإمام السيوطي.</a:t>
            </a:r>
          </a:p>
          <a:p>
            <a:r>
              <a:rPr lang="ar-SA" dirty="0">
                <a:latin typeface="Adobe Arabic new" panose="02040703060201020203" pitchFamily="18" charset="-78"/>
                <a:cs typeface="Adobe Arabic new" panose="02040703060201020203" pitchFamily="18" charset="-78"/>
              </a:rPr>
              <a:t>7. التاریخ ا لإسلامي لإبراهيم </a:t>
            </a:r>
            <a:r>
              <a:rPr lang="ps-AF" dirty="0">
                <a:latin typeface="Adobe Arabic new" panose="02040703060201020203" pitchFamily="18" charset="-78"/>
                <a:cs typeface="Adobe Arabic new" panose="02040703060201020203" pitchFamily="18" charset="-78"/>
              </a:rPr>
              <a:t>الشريقي</a:t>
            </a:r>
            <a:r>
              <a:rPr lang="ar-SA" dirty="0">
                <a:latin typeface="Adobe Arabic new" panose="02040703060201020203" pitchFamily="18" charset="-78"/>
                <a:cs typeface="Adobe Arabic new" panose="02040703060201020203" pitchFamily="18" charset="-78"/>
              </a:rPr>
              <a:t>.</a:t>
            </a:r>
          </a:p>
          <a:p>
            <a:r>
              <a:rPr lang="ar-SA" dirty="0">
                <a:latin typeface="Adobe Arabic new" panose="02040703060201020203" pitchFamily="18" charset="-78"/>
                <a:cs typeface="Adobe Arabic new" panose="02040703060201020203" pitchFamily="18" charset="-78"/>
              </a:rPr>
              <a:t>8. کتب التاریخ ا لإسلامي، للشیخ علی محمد الصلابي .</a:t>
            </a:r>
            <a:endParaRPr lang="en-US" dirty="0">
              <a:latin typeface="Adobe Arabic new" panose="02040703060201020203" pitchFamily="18" charset="-78"/>
              <a:cs typeface="Adobe Arabic new" panose="02040703060201020203" pitchFamily="18" charset="-78"/>
            </a:endParaRPr>
          </a:p>
        </p:txBody>
      </p:sp>
    </p:spTree>
    <p:extLst>
      <p:ext uri="{BB962C8B-B14F-4D97-AF65-F5344CB8AC3E}">
        <p14:creationId xmlns:p14="http://schemas.microsoft.com/office/powerpoint/2010/main" val="2046360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55191" y="3186838"/>
            <a:ext cx="9976514" cy="915605"/>
          </a:xfrm>
        </p:spPr>
        <p:txBody>
          <a:bodyPr>
            <a:noAutofit/>
          </a:bodyPr>
          <a:lstStyle/>
          <a:p>
            <a:pPr>
              <a:lnSpc>
                <a:spcPct val="150000"/>
              </a:lnSpc>
            </a:pPr>
            <a:r>
              <a:rPr lang="fa-IR" sz="5400" dirty="0">
                <a:latin typeface="Adobe Arabic" panose="02040503050201020203" pitchFamily="18" charset="-78"/>
                <a:ea typeface="Cambria" panose="02040503050406030204" pitchFamily="18" charset="0"/>
                <a:cs typeface="Adobe Arabic" panose="02040503050201020203" pitchFamily="18" charset="-78"/>
              </a:rPr>
              <a:t>تشکر</a:t>
            </a:r>
            <a:endParaRPr lang="en-US" sz="5400" dirty="0">
              <a:latin typeface="Adobe Arabic" panose="02040503050201020203" pitchFamily="18" charset="-78"/>
              <a:ea typeface="Cambria" panose="02040503050406030204" pitchFamily="18" charset="0"/>
              <a:cs typeface="Adobe Arabic" panose="02040503050201020203" pitchFamily="18" charset="-78"/>
            </a:endParaRPr>
          </a:p>
        </p:txBody>
      </p:sp>
    </p:spTree>
    <p:extLst>
      <p:ext uri="{BB962C8B-B14F-4D97-AF65-F5344CB8AC3E}">
        <p14:creationId xmlns:p14="http://schemas.microsoft.com/office/powerpoint/2010/main" val="225908185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17883</TotalTime>
  <Words>528</Words>
  <Application>Microsoft Office PowerPoint</Application>
  <PresentationFormat>Widescreen</PresentationFormat>
  <Paragraphs>58</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Adobe Arabic</vt:lpstr>
      <vt:lpstr>Adobe Arabic new</vt:lpstr>
      <vt:lpstr>Arial</vt:lpstr>
      <vt:lpstr>B Zar</vt:lpstr>
      <vt:lpstr>Bahij Nazanin</vt:lpstr>
      <vt:lpstr>Calibri</vt:lpstr>
      <vt:lpstr>Calibri Light</vt:lpstr>
      <vt:lpstr>Cambria</vt:lpstr>
      <vt:lpstr>Office Theme</vt:lpstr>
      <vt:lpstr>سيرت نبی عليه السلام</vt:lpstr>
      <vt:lpstr>فهرست</vt:lpstr>
      <vt:lpstr>مرور مختصر به درس گذشته</vt:lpstr>
      <vt:lpstr>نتايج متوقع از درس</vt:lpstr>
      <vt:lpstr>فتح مکه</vt:lpstr>
      <vt:lpstr>غزوه حنين</vt:lpstr>
      <vt:lpstr>غزوه تبوک</vt:lpstr>
      <vt:lpstr>ادامه... غزوه تبوک</vt:lpstr>
      <vt:lpstr>درس و عبرت تبصره در رابطه به درس</vt:lpstr>
      <vt:lpstr>منابع مضمون</vt:lpstr>
      <vt:lpstr>تشکر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&amp; Cover Letter  Work Shop</dc:title>
  <dc:creator>Ahmad Bashir</dc:creator>
  <cp:lastModifiedBy>تصحیح کننده :</cp:lastModifiedBy>
  <cp:revision>498</cp:revision>
  <cp:lastPrinted>2018-09-30T05:57:36Z</cp:lastPrinted>
  <dcterms:created xsi:type="dcterms:W3CDTF">2016-12-29T08:37:18Z</dcterms:created>
  <dcterms:modified xsi:type="dcterms:W3CDTF">2025-05-29T09:21:01Z</dcterms:modified>
</cp:coreProperties>
</file>