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284" r:id="rId3"/>
    <p:sldId id="283" r:id="rId4"/>
    <p:sldId id="281" r:id="rId5"/>
    <p:sldId id="311" r:id="rId6"/>
    <p:sldId id="312" r:id="rId7"/>
    <p:sldId id="313" r:id="rId8"/>
    <p:sldId id="314" r:id="rId9"/>
    <p:sldId id="317" r:id="rId10"/>
    <p:sldId id="315" r:id="rId11"/>
    <p:sldId id="316" r:id="rId12"/>
    <p:sldId id="309" r:id="rId13"/>
    <p:sldId id="267" r:id="rId14"/>
    <p:sldId id="318" r:id="rId15"/>
    <p:sldId id="260" r:id="rId16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21F"/>
    <a:srgbClr val="04A4DC"/>
    <a:srgbClr val="0A4F9E"/>
    <a:srgbClr val="F05A2A"/>
    <a:srgbClr val="7CBBE6"/>
    <a:srgbClr val="306EB4"/>
    <a:srgbClr val="FDAA03"/>
    <a:srgbClr val="3399FF"/>
    <a:srgbClr val="4B9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4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C64C3A3-36D1-4B54-82BE-C1BE5310613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561E02F8-2C60-4E6D-9748-CA6CEC34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4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4F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9036" y="2729552"/>
            <a:ext cx="9144000" cy="889593"/>
          </a:xfrm>
        </p:spPr>
        <p:txBody>
          <a:bodyPr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+mn-lt"/>
                <a:ea typeface="+mj-ea"/>
                <a:cs typeface="B Zar"/>
              </a:defRPr>
            </a:lvl1pPr>
          </a:lstStyle>
          <a:p>
            <a:r>
              <a:rPr lang="prs-AF" dirty="0"/>
              <a:t>عنوان اصلی تقریر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19036" y="3780431"/>
            <a:ext cx="9144000" cy="1354540"/>
          </a:xfrm>
        </p:spPr>
        <p:txBody>
          <a:bodyPr>
            <a:normAutofit/>
          </a:bodyPr>
          <a:lstStyle>
            <a:lvl1pPr marL="0" indent="0" algn="ctr">
              <a:buNone/>
              <a:defRPr sz="2800" baseline="0">
                <a:solidFill>
                  <a:schemeClr val="bg1"/>
                </a:solidFill>
                <a:cs typeface="B Z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rs-AF" dirty="0"/>
              <a:t>عنوان فرعی تقریر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021" y="440948"/>
            <a:ext cx="1713676" cy="17136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67" y="1024069"/>
            <a:ext cx="12208467" cy="68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3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47567" y="445807"/>
            <a:ext cx="9968061" cy="952687"/>
          </a:xfrm>
        </p:spPr>
        <p:txBody>
          <a:bodyPr>
            <a:normAutofit/>
          </a:bodyPr>
          <a:lstStyle>
            <a:lvl1pPr algn="r" rtl="1">
              <a:defRPr lang="en-US" sz="4400" b="1" kern="1200" dirty="0">
                <a:solidFill>
                  <a:schemeClr val="accent1">
                    <a:lumMod val="50000"/>
                  </a:schemeClr>
                </a:solidFill>
                <a:latin typeface="Adobe Arabic" pitchFamily="18" charset="-78"/>
                <a:ea typeface="B Zar"/>
                <a:cs typeface="B Zar"/>
              </a:defRPr>
            </a:lvl1pPr>
          </a:lstStyle>
          <a:p>
            <a:r>
              <a:rPr lang="prs-AF" dirty="0"/>
              <a:t>عنوان اصلی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616" y="1555845"/>
            <a:ext cx="11080259" cy="4517409"/>
          </a:xfrm>
        </p:spPr>
        <p:txBody>
          <a:bodyPr/>
          <a:lstStyle>
            <a:lvl1pPr algn="r" rtl="1">
              <a:defRPr sz="2800"/>
            </a:lvl1pPr>
            <a:lvl2pPr algn="r" rtl="1">
              <a:defRPr/>
            </a:lvl2pPr>
            <a:lvl3pPr algn="r" rtl="1">
              <a:defRPr baseline="0"/>
            </a:lvl3pPr>
            <a:lvl4pPr algn="r" rtl="1">
              <a:defRPr/>
            </a:lvl4pPr>
            <a:lvl5pPr algn="r" rtl="1">
              <a:defRPr baseline="0"/>
            </a:lvl5pPr>
          </a:lstStyle>
          <a:p>
            <a:pPr lvl="0"/>
            <a:r>
              <a:rPr lang="prs-AF" dirty="0"/>
              <a:t>متن اصلی</a:t>
            </a:r>
            <a:endParaRPr lang="en-US" dirty="0"/>
          </a:p>
          <a:p>
            <a:pPr lvl="1"/>
            <a:r>
              <a:rPr lang="prs-AF" dirty="0"/>
              <a:t>متن فرعی دوم</a:t>
            </a:r>
            <a:endParaRPr lang="en-US" dirty="0"/>
          </a:p>
          <a:p>
            <a:pPr lvl="2"/>
            <a:r>
              <a:rPr lang="prs-AF" dirty="0"/>
              <a:t>متن فرعی سوم</a:t>
            </a:r>
            <a:endParaRPr lang="en-US" dirty="0"/>
          </a:p>
          <a:p>
            <a:pPr lvl="3"/>
            <a:r>
              <a:rPr lang="prs-AF" dirty="0"/>
              <a:t>متن فرعی چهارم</a:t>
            </a:r>
            <a:endParaRPr lang="en-US" dirty="0"/>
          </a:p>
          <a:p>
            <a:pPr lvl="4"/>
            <a:r>
              <a:rPr lang="prs-AF" dirty="0"/>
              <a:t>متن فرعی پنجم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894" y="6008432"/>
            <a:ext cx="5784981" cy="8495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16" y="329016"/>
            <a:ext cx="1065215" cy="10652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4186"/>
            <a:ext cx="5813894" cy="85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1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2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6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3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8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1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85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51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4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100917" y="2752726"/>
            <a:ext cx="8278284" cy="1362075"/>
          </a:xfrm>
        </p:spPr>
        <p:txBody>
          <a:bodyPr anchor="ctr" anchorCtr="0">
            <a:normAutofit/>
          </a:bodyPr>
          <a:lstStyle>
            <a:lvl1pPr algn="r">
              <a:defRPr lang="en-US" sz="4400" b="1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940" y="2743200"/>
            <a:ext cx="1331259" cy="1295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46"/>
          <a:stretch/>
        </p:blipFill>
        <p:spPr>
          <a:xfrm>
            <a:off x="0" y="5709899"/>
            <a:ext cx="12223899" cy="107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8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3865D-5B99-46DD-BB43-58A6B67A8955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B4263-EF47-44FB-8A6A-3F65507A34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05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17499" y="2971280"/>
            <a:ext cx="11252201" cy="11600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s-AF" sz="5400" dirty="0">
                <a:latin typeface="Cambria" panose="02040503050406030204" pitchFamily="18" charset="0"/>
                <a:ea typeface="Cambria" panose="02040503050406030204" pitchFamily="18" charset="0"/>
              </a:rPr>
              <a:t>سيرت نبي عليه السلام</a:t>
            </a:r>
            <a:endParaRPr lang="en-US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499" y="4862133"/>
            <a:ext cx="11028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ps-AF" sz="3200" b="1" dirty="0">
                <a:solidFill>
                  <a:schemeClr val="bg1"/>
                </a:solidFill>
                <a:latin typeface="Adobe Arabic new" panose="02040703060201020203" pitchFamily="18" charset="-78"/>
                <a:cs typeface="Adobe Arabic new" panose="02040703060201020203" pitchFamily="18" charset="-78"/>
              </a:rPr>
              <a:t>سمسټر: دوم</a:t>
            </a:r>
          </a:p>
          <a:p>
            <a:pPr algn="r" rtl="1"/>
            <a:r>
              <a:rPr lang="ps-AF" sz="3200" b="1" dirty="0">
                <a:solidFill>
                  <a:schemeClr val="bg1"/>
                </a:solidFill>
                <a:latin typeface="Adobe Arabic new" panose="02040703060201020203" pitchFamily="18" charset="-78"/>
                <a:cs typeface="Adobe Arabic new" panose="02040703060201020203" pitchFamily="18" charset="-78"/>
              </a:rPr>
              <a:t>درس: ششم</a:t>
            </a:r>
          </a:p>
          <a:p>
            <a:pPr algn="r" rtl="1"/>
            <a:r>
              <a:rPr lang="ps-AF" sz="3200" b="1" dirty="0">
                <a:solidFill>
                  <a:schemeClr val="bg1"/>
                </a:solidFill>
                <a:latin typeface="Adobe Arabic new" panose="02040703060201020203" pitchFamily="18" charset="-78"/>
                <a:cs typeface="Adobe Arabic new" panose="02040703060201020203" pitchFamily="18" charset="-78"/>
              </a:rPr>
              <a:t>استاذ: </a:t>
            </a:r>
            <a:r>
              <a:rPr lang="fa-IR" sz="3200" b="1" dirty="0">
                <a:solidFill>
                  <a:schemeClr val="bg1"/>
                </a:solidFill>
                <a:latin typeface="Adobe Arabic new" panose="02040703060201020203" pitchFamily="18" charset="-78"/>
                <a:cs typeface="Adobe Arabic new" panose="02040703060201020203" pitchFamily="18" charset="-78"/>
              </a:rPr>
              <a:t>اصحاب الدین حلیمی</a:t>
            </a:r>
            <a:endParaRPr lang="ps-AF" sz="3200" b="1" dirty="0">
              <a:solidFill>
                <a:schemeClr val="bg1"/>
              </a:solidFill>
              <a:latin typeface="Adobe Arabic new" panose="02040703060201020203" pitchFamily="18" charset="-78"/>
              <a:cs typeface="Adobe Arabic new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194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s-AF" dirty="0"/>
              <a:t>فهرست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rtlCol="1">
            <a:normAutofit/>
          </a:bodyPr>
          <a:lstStyle/>
          <a:p>
            <a:pPr>
              <a:lnSpc>
                <a:spcPct val="100000"/>
              </a:lnSpc>
            </a:pPr>
            <a:r>
              <a:rPr lang="p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مرور مختصر به در </a:t>
            </a: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گ</a:t>
            </a:r>
            <a:r>
              <a:rPr lang="p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ذشته</a:t>
            </a:r>
            <a:endParaRPr lang="prs-AF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نتایج متوقع از درس</a:t>
            </a: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احزاب</a:t>
            </a: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بنی قریظه</a:t>
            </a: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حدیبیه</a:t>
            </a: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خیبر</a:t>
            </a:r>
          </a:p>
          <a:p>
            <a:pPr>
              <a:lnSpc>
                <a:spcPct val="100000"/>
              </a:lnSpc>
            </a:pPr>
            <a:r>
              <a:rPr lang="prs-AF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موته</a:t>
            </a:r>
          </a:p>
          <a:p>
            <a:pPr>
              <a:lnSpc>
                <a:spcPct val="100000"/>
              </a:lnSpc>
            </a:pPr>
            <a:endParaRPr lang="ps-AF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254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مرور مختصر به درس گذشته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3" rtlCol="1">
            <a:noAutofit/>
          </a:bodyPr>
          <a:lstStyle/>
          <a:p>
            <a:pPr>
              <a:lnSpc>
                <a:spcPct val="100000"/>
              </a:lnSpc>
            </a:pPr>
            <a:r>
              <a:rPr lang="fa-IR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نبردهاي خونين</a:t>
            </a:r>
            <a:endParaRPr lang="prs-AF" sz="4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>
              <a:lnSpc>
                <a:spcPct val="100000"/>
              </a:lnSpc>
            </a:pPr>
            <a:r>
              <a:rPr lang="fa-IR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نخستين جنگ سرنوشت ساز در تاريخ اسلام</a:t>
            </a:r>
            <a:r>
              <a:rPr lang="en-US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 )</a:t>
            </a:r>
            <a:r>
              <a:rPr lang="ps-AF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بدر</a:t>
            </a:r>
            <a:r>
              <a:rPr lang="en-US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(</a:t>
            </a:r>
            <a:endParaRPr lang="prs-AF" sz="4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>
              <a:lnSpc>
                <a:spcPct val="100000"/>
              </a:lnSpc>
            </a:pPr>
            <a:r>
              <a:rPr lang="ps-AF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احد</a:t>
            </a:r>
            <a:endParaRPr lang="prs-AF" sz="4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>
              <a:lnSpc>
                <a:spcPct val="100000"/>
              </a:lnSpc>
            </a:pPr>
            <a:r>
              <a:rPr lang="ps-AF" sz="44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غزوه بنی نضیر</a:t>
            </a:r>
            <a:endParaRPr lang="prs-AF" sz="4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160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dirty="0"/>
              <a:t>نتايج متوقع از درس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Low">
              <a:lnSpc>
                <a:spcPct val="150000"/>
              </a:lnSpc>
              <a:buNone/>
            </a:pPr>
            <a:endParaRPr lang="ps-AF" sz="28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1" algn="justLow">
              <a:lnSpc>
                <a:spcPct val="150000"/>
              </a:lnSpc>
            </a:pPr>
            <a:r>
              <a:rPr lang="p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خواندن</a:t>
            </a:r>
            <a:r>
              <a:rPr lang="pr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 ودانستن</a:t>
            </a:r>
            <a:r>
              <a:rPr lang="p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 اسباب جن</a:t>
            </a:r>
            <a:r>
              <a:rPr lang="pr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گ</a:t>
            </a:r>
            <a:r>
              <a:rPr lang="p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ها وتفاصیل غزوات النبي عليه السلام</a:t>
            </a:r>
            <a:r>
              <a:rPr lang="pr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.</a:t>
            </a:r>
            <a:endParaRPr lang="ps-AF" sz="28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61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dirty="0"/>
              <a:t>غزوه‌ی احزاب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نام دیگر آن غزوه‌ی خندق است</a:t>
            </a:r>
            <a:r>
              <a:rPr lang="p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این غزوه در ماه شوال سال پنجم هجری انجام شد</a:t>
            </a:r>
            <a:r>
              <a:rPr lang="p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p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ان</a:t>
            </a: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گیزه جنگ.</a:t>
            </a:r>
            <a:endParaRPr lang="ps-AF" sz="4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7475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dirty="0"/>
              <a:t>ادامه... غزوه احزاب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تعداد لشکر دو جانبه:</a:t>
            </a:r>
          </a:p>
          <a:p>
            <a:pPr lvl="1">
              <a:lnSpc>
                <a:spcPct val="100000"/>
              </a:lnSpc>
            </a:pPr>
            <a:r>
              <a:rPr lang="pr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از طرف مسلمانان: ۳۰۰۰</a:t>
            </a:r>
          </a:p>
          <a:p>
            <a:pPr lvl="1">
              <a:lnSpc>
                <a:spcPct val="100000"/>
              </a:lnSpc>
            </a:pPr>
            <a:r>
              <a:rPr lang="pr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از طرف کافران: ۱۰۰۰۰</a:t>
            </a:r>
          </a:p>
          <a:p>
            <a:pPr>
              <a:lnSpc>
                <a:spcPct val="100000"/>
              </a:lnSpc>
            </a:pPr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نتيجه جنگ:</a:t>
            </a:r>
          </a:p>
          <a:p>
            <a:pPr marL="457200" lvl="1" indent="0" algn="justLow">
              <a:lnSpc>
                <a:spcPct val="100000"/>
              </a:lnSpc>
              <a:buNone/>
            </a:pPr>
            <a:r>
              <a:rPr lang="fa-IR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خداوند در شبی بارانی و سرد باد شدیدی را برای دشمنان فرستاد به طوری که چادرهایشان را زیر و رو کرد و دیک‌های آنان را واژگون نمود دل‌هایشان پر از ترس و وحشت شد و در همان شب فرار کردند صبح زود مسلمانان کسی از دشمنان را ندیدند.</a:t>
            </a:r>
            <a:endParaRPr lang="en-US" sz="28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300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dirty="0"/>
              <a:t>غزوه‌ی بنی قریظه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جنگ بنی قریظه در سال پنجم هجری پس از جنگ احزاب انجام شد</a:t>
            </a:r>
            <a:r>
              <a:rPr lang="p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p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ان</a:t>
            </a: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گیزه جنگ.</a:t>
            </a:r>
          </a:p>
          <a:p>
            <a:pPr algn="justLow">
              <a:lnSpc>
                <a:spcPct val="100000"/>
              </a:lnSpc>
            </a:pP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محاصره نمودن يهود بنو قریظه (۲۵ روز)</a:t>
            </a:r>
          </a:p>
          <a:p>
            <a:pPr algn="justLow">
              <a:lnSpc>
                <a:spcPct val="100000"/>
              </a:lnSpc>
            </a:pP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نتيجه جنگ (تخليه مدينه از این قبیله ی خاین)</a:t>
            </a:r>
            <a:endParaRPr lang="en-US" sz="4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91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dirty="0"/>
              <a:t>غزوه حديبیه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این غزوه در ماه ذی القعده‌ی سال ششم هجری بود</a:t>
            </a: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.</a:t>
            </a:r>
          </a:p>
          <a:p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 </a:t>
            </a: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انگیزه این غزوه</a:t>
            </a:r>
          </a:p>
          <a:p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شایعه قتل عثمان بن عفان رضی الله عنه</a:t>
            </a:r>
          </a:p>
          <a:p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نتیجه این غزوه</a:t>
            </a:r>
            <a:endParaRPr lang="en-US" sz="4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2771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sz="2800" b="0" dirty="0"/>
              <a:t>ادامه... </a:t>
            </a:r>
            <a:r>
              <a:rPr lang="prs-AF" dirty="0"/>
              <a:t>غزوه حدیبیه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نقاط مهم پیمان (صلح) حدیبیه</a:t>
            </a:r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: </a:t>
            </a:r>
            <a:endParaRPr lang="en-US" sz="4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1">
              <a:lnSpc>
                <a:spcPct val="100000"/>
              </a:lnSpc>
            </a:pPr>
            <a:r>
              <a:rPr lang="fa-IR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پیامبر عليه السلام و اصحابش امسال وارد مکه نشوند و به مدینه برگردند ایشان سال آینده با سلاح مسافر وارد مکه شوند و سه روز در آنجا بمانند. </a:t>
            </a:r>
            <a:endParaRPr lang="en-US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1">
              <a:lnSpc>
                <a:spcPct val="100000"/>
              </a:lnSpc>
            </a:pPr>
            <a:r>
              <a:rPr lang="fa-IR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دو طرف مدت ده سال با هم جنگ نکنند. </a:t>
            </a:r>
            <a:endParaRPr lang="en-US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1">
              <a:lnSpc>
                <a:spcPct val="100000"/>
              </a:lnSpc>
            </a:pPr>
            <a:r>
              <a:rPr lang="fa-IR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اگر کسی از مسلمانان به مکه آمد و نزد قریش رفت او را نزد پیامبر عليه السلام برنگردانند. </a:t>
            </a:r>
            <a:endParaRPr lang="en-US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1">
              <a:lnSpc>
                <a:spcPct val="100000"/>
              </a:lnSpc>
            </a:pPr>
            <a:r>
              <a:rPr lang="fa-IR" sz="32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اگر کسی از اهل مکه نزد پیامبر عليه السلام آمد او را به مکه برگردانند. </a:t>
            </a:r>
            <a:endParaRPr lang="en-US" sz="3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marL="0" indent="0">
              <a:buNone/>
            </a:pPr>
            <a:endParaRPr lang="en-US" sz="4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005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dirty="0"/>
              <a:t>غزوه خیبر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این جنگ در روزهای آخر ماه محرم سال هفتم هجری رخ </a:t>
            </a:r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داد.</a:t>
            </a:r>
          </a:p>
          <a:p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انگیزه این غزوه.</a:t>
            </a:r>
          </a:p>
          <a:p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تلفات دوجانبه:</a:t>
            </a:r>
          </a:p>
          <a:p>
            <a:pPr lvl="1"/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از طرف مسلمانان: ۱۵ نفر شهید.</a:t>
            </a:r>
          </a:p>
          <a:p>
            <a:pPr lvl="1"/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از طرف یهود: ۹۳ نفر کشته شدند.</a:t>
            </a:r>
          </a:p>
          <a:p>
            <a:r>
              <a:rPr lang="prs-AF" sz="40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نتیجه جنگ.</a:t>
            </a:r>
          </a:p>
        </p:txBody>
      </p:sp>
    </p:spTree>
    <p:extLst>
      <p:ext uri="{BB962C8B-B14F-4D97-AF65-F5344CB8AC3E}">
        <p14:creationId xmlns:p14="http://schemas.microsoft.com/office/powerpoint/2010/main" val="3311636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rs-AF" dirty="0"/>
              <a:t>غزوه موته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این غزوه در ماه «جمادی الاول» سال هشتم هجری انجام شد. </a:t>
            </a:r>
            <a:endParaRPr lang="prs-AF" sz="36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r>
              <a:rPr lang="fa-IR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مؤته روستایی از بلندی‌های شام است که الآن (الکرک) نام دارد. </a:t>
            </a:r>
            <a:endParaRPr lang="en-US" sz="36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انگیزه این غزوه.</a:t>
            </a:r>
            <a:endParaRPr lang="fa-IR" sz="36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marL="0" indent="0">
              <a:buNone/>
            </a:pPr>
            <a:endParaRPr lang="prs-AF" sz="36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واقعات مهم این غزوه.</a:t>
            </a:r>
          </a:p>
          <a:p>
            <a:r>
              <a:rPr lang="prs-AF" sz="36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نتیجه جنگ.</a:t>
            </a:r>
            <a:endParaRPr lang="en-US" sz="36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517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654" y="2017028"/>
            <a:ext cx="9968061" cy="220724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ps-AF" dirty="0"/>
              <a:t>درس و عبرت</a:t>
            </a:r>
            <a:br>
              <a:rPr lang="ps-AF" dirty="0"/>
            </a:br>
            <a:r>
              <a:rPr lang="ps-AF" dirty="0"/>
              <a:t>تبصره در رابطه به درس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793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s-AF" dirty="0"/>
              <a:t>منابع مضمون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s-AF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۱. </a:t>
            </a:r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سیرة ابن هشام، لابن هشام.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2. السیرة النبویة، للشیخ ابو الحسن الندوي.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3. السیرة النبوية، دروس وعبر، شیخ مصطفی السباعي.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4. السیرة النبوية، عرض وقائع وتحلیل أحداث، شيخ علي محمد الصلابي.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5. فقه السيرة، شيخ رمضان البوطي.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6. تاريخ الخلفاء للإمام السيوطي.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7. التاریخ ا لإسلامي لإبراهيم </a:t>
            </a:r>
            <a:r>
              <a:rPr lang="ps-AF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الشريقي</a:t>
            </a:r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.</a:t>
            </a:r>
          </a:p>
          <a:p>
            <a:r>
              <a:rPr lang="ar-SA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8. کتب التاریخ ا لإسلامي، للشیخ علی محمد الصلابي .</a:t>
            </a:r>
            <a:endParaRPr lang="en-US" dirty="0">
              <a:latin typeface="Adobe Arabic new" panose="02040703060201020203" pitchFamily="18" charset="-78"/>
              <a:cs typeface="Adobe Arabic new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4636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سوالات امتحان (کویز)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436" y="1928813"/>
            <a:ext cx="11042191" cy="2843211"/>
          </a:xfrm>
        </p:spPr>
        <p:txBody>
          <a:bodyPr>
            <a:normAutofit/>
          </a:bodyPr>
          <a:lstStyle/>
          <a:p>
            <a:r>
              <a:rPr lang="fa-IR" sz="3600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درمورد غزوات(بدر، احد و بنی نضیر) تاریخ غزوه،انگیزه، تعداد دوطرفه ونتایج غزوه را ذکر نمایید.</a:t>
            </a:r>
          </a:p>
          <a:p>
            <a:r>
              <a:rPr lang="fa-IR" sz="3600" dirty="0">
                <a:latin typeface="Adobe Arabic new" panose="02040703060201020203" pitchFamily="18" charset="-78"/>
                <a:cs typeface="Adobe Arabic new" panose="02040703060201020203" pitchFamily="18" charset="-78"/>
              </a:rPr>
              <a:t> پنج دلیل درمورد اصالت صلح دراسلام بیان دارید.</a:t>
            </a:r>
            <a:endParaRPr lang="en-US" sz="3600" dirty="0">
              <a:latin typeface="Adobe Arabic new" panose="02040703060201020203" pitchFamily="18" charset="-78"/>
              <a:cs typeface="Adobe Arabic new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932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5191" y="3186838"/>
            <a:ext cx="9976514" cy="9156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a-IR" sz="5400" dirty="0">
                <a:latin typeface="Adobe Arabic" panose="02040503050201020203" pitchFamily="18" charset="-78"/>
                <a:ea typeface="Cambria" panose="02040503050406030204" pitchFamily="18" charset="0"/>
                <a:cs typeface="Adobe Arabic" panose="02040503050201020203" pitchFamily="18" charset="-78"/>
              </a:rPr>
              <a:t>تشکر</a:t>
            </a:r>
            <a:endParaRPr lang="en-US" sz="5400" dirty="0">
              <a:latin typeface="Adobe Arabic" panose="02040503050201020203" pitchFamily="18" charset="-78"/>
              <a:ea typeface="Cambria" panose="02040503050406030204" pitchFamily="18" charset="0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5908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17891</TotalTime>
  <Words>542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Adobe Arabic</vt:lpstr>
      <vt:lpstr>Adobe Arabic new</vt:lpstr>
      <vt:lpstr>Arial</vt:lpstr>
      <vt:lpstr>B Zar</vt:lpstr>
      <vt:lpstr>Bahij Nazanin</vt:lpstr>
      <vt:lpstr>Calibri</vt:lpstr>
      <vt:lpstr>Calibri Light</vt:lpstr>
      <vt:lpstr>Cambria</vt:lpstr>
      <vt:lpstr>Office Theme</vt:lpstr>
      <vt:lpstr>سيرت نبي عليه السلام</vt:lpstr>
      <vt:lpstr>فهرست</vt:lpstr>
      <vt:lpstr>مرور مختصر به درس گذشته</vt:lpstr>
      <vt:lpstr>نتايج متوقع از درس</vt:lpstr>
      <vt:lpstr>غزوه‌ی احزاب </vt:lpstr>
      <vt:lpstr>ادامه... غزوه احزاب</vt:lpstr>
      <vt:lpstr>غزوه‌ی بنی قریظه </vt:lpstr>
      <vt:lpstr>غزوه حديبیه</vt:lpstr>
      <vt:lpstr>ادامه... غزوه حدیبیه</vt:lpstr>
      <vt:lpstr>غزوه خیبر</vt:lpstr>
      <vt:lpstr>غزوه موته</vt:lpstr>
      <vt:lpstr>درس و عبرت تبصره در رابطه به درس</vt:lpstr>
      <vt:lpstr>منابع مضمون</vt:lpstr>
      <vt:lpstr>سوالات امتحان (کویز)</vt:lpstr>
      <vt:lpstr>تشکر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&amp; Cover Letter  Work Shop</dc:title>
  <dc:creator>Ahmad Bashir</dc:creator>
  <cp:lastModifiedBy>تصحیح کننده :</cp:lastModifiedBy>
  <cp:revision>488</cp:revision>
  <cp:lastPrinted>2018-09-30T05:57:36Z</cp:lastPrinted>
  <dcterms:created xsi:type="dcterms:W3CDTF">2016-12-29T08:37:18Z</dcterms:created>
  <dcterms:modified xsi:type="dcterms:W3CDTF">2025-05-20T10:15:13Z</dcterms:modified>
</cp:coreProperties>
</file>